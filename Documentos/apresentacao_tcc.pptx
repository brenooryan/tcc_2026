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Cumprimentar banca. Dizer o nome do trabalho e uma frase de efeito: Construimos uma plataforma que sobe uma planilha de RH qualquer e ja entrega um dashboard completo, sem ninguem da TI precisar modelar nada antes. Apresentar rapidamente voces dois e o orientador/coorientador. Tempo alvo: 30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Contar o problema com uma vivencia real (se puder, mencionar a experiencia pratica de um de voces em RH). Ideia central: a dependencia de TI atrasa decisao estrategica, e o relatorio entregue ja nasce velho porque e estatico. Citar rapidamente Angrave et al. 2016, que documentou isso na literatura de People Analytics. Tempo alvo: 1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slide, uma frase. Deixar essa frase ressoar um pouco antes de seguir. Se quiser, complementar verbalmente: o usuario so confirma, em portugues, se o que a IA entendeu faz sentido, nada de modelagem manual. Tempo alvo: 40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Passar rapido por esse slide, um pilar por frase curta: People Analytics mostra o problema; democratizacao de dados mostra que solucoes anteriores ainda pedem algum conhecimento tecnico; geracao de visualizacao por IA mostra que e tecnicamente viavel; e confiabilidade de IA e o que nos obrigou a validar tudo antes de mostrar um numero. Nao ler os cards, so apontar. Tempo alvo: 1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 o slide mais importante da apresentacao, o argumento central do trabalho. Explicar: a IA nunca calcula um numero, ela so propoe uma especificacao (que tabela, que filtro, que agrupamento). Um validador deterministico confere se aquilo existe de verdade na base antes de qualquer calculo. Isso existe porque modelos de linguagem alucinam (citar Ji et al. 2023), e num dashboard, um numero errado passa despercebido. Tempo alvo: 1min30.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Passar o dedo/apontador pela linha de cima e depois pela linha de baixo. Frase-chave: a IA so participa das etapas 2 e 6, identificar estrutura e planejar o dashboard. Tudo o resto e codigo deterministico. Mencionar rapidamente que existe uma tela de revisao humana do mapeamento (etapa 3) antes de qualquer processamento. Tempo alvo: 1min15.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mais tecnico, se o tempo estiver curto, pode resumir em uma frase: a interface nunca fala direto com a IA, e a IA nunca fala direto com a tela; sempre existe a camada de validacao no meio. Mencionar rapidamente: React na interface, Gemini ou Claude na camada de IA, IndexedDB local pra salvar projetos sem servidor proprio. Tempo alvo: 45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a tela real da plataforma. Destacar a frase de transparencia: so uma amostra pequena vai pra IA, nunca a base inteira. Mencionar os projetos salvos localmente (sem precisar reprocessar). Tempo alvo: 40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Essa e a base sintetica de teste. Destacar: 188 funcionarios, e o resumo executivo em texto foi gerado pela IA DEPOIS dos numeros ja calculados, ela so descreveu o que ja estava certo, nao influenciou nenhum valor. Se der tempo, ler uma frase do resumo gerado. Tempo alvo: 1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Regressao linear simples sobre os ultimos 9 meses, projetando 6 meses a frente. Deixar claro: nao e rede neural, e estatistica transparente, serve pra tendencia, nao pra prever evento pontual. Tempo alvo: 40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chat calcula em cima dos dados reais quando o resumo pronto nao responde a pergunta, nunca deixa a IA inventar o numero, mesmo aqui. Mesma garantia de confiabilidade do dashboard. Tempo alvo: 40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no ponto da generalizacao, e o que da forca ao resultado. Se perguntarem, exemplos de base: so folha de pagamento, base fora do dominio de RH (caso negativo), mesma base dividida por ano em varias abas. Tempo alvo: 1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Deixar o numero 100% respirar antes de explicar. Depois: isso nao significa que a IA nunca erra, significa que, nessas sete bases propositalmente diferentes do que vimos no desenvolvimento, ela acertou tudo, e o validador deterministico garantiria que um erro nunca chegasse ao usuario mesmo assim. Mencionar os testes qualitativos com bases incompletas como evidencia extra de robustez. Tempo alvo: 1min30.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Fechar retomando a pergunta de pesquisa da introducao. Se der tempo, citar as limitacoes (avaliacao so com dados sinteticos, arquitetura sem servidor entao chave de API fica local) e trabalhos futuros (avaliacao com dados reais, comparar provedores de IA, estender pra outras areas alem de RH). Tempo alvo: 1min15.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Agradecer a banca. Ficar em silencio confortavel esperando perguntas, nao preencher o silencio com mais fala.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B"/>
        </a:solidFill>
      </p:bgPr>
    </p:bg>
    <p:spTree>
      <p:nvGrpSpPr>
        <p:cNvPr id="1" name=""/>
        <p:cNvGrpSpPr/>
        <p:nvPr/>
      </p:nvGrpSpPr>
      <p:grpSpPr>
        <a:xfrm>
          <a:off x="0" y="0"/>
          <a:ext cx="0" cy="0"/>
          <a:chOff x="0" y="0"/>
          <a:chExt cx="0" cy="0"/>
        </a:xfrm>
      </p:grpSpPr>
      <p:sp>
        <p:nvSpPr>
          <p:cNvPr id="2" name="Text 0"/>
          <p:cNvSpPr txBox="1"/>
          <p:nvPr/>
        </p:nvSpPr>
        <p:spPr>
          <a:xfrm>
            <a:off x="822960" y="1965960"/>
            <a:ext cx="10515600" cy="365760"/>
          </a:xfrm>
          <a:prstGeom prst="rect">
            <a:avLst/>
          </a:prstGeom>
          <a:noFill/>
          <a:ln/>
        </p:spPr>
        <p:txBody>
          <a:bodyPr wrap="square" lIns="0" tIns="0" rIns="0" bIns="0" rtlCol="0" anchor="ctr"/>
          <a:lstStyle/>
          <a:p>
            <a:pPr indent="0" marL="0">
              <a:buNone/>
            </a:pPr>
            <a:r>
              <a:rPr lang="en-US" sz="1300" b="1" spc="300" kern="0" dirty="0">
                <a:solidFill>
                  <a:srgbClr val="8FA6C9"/>
                </a:solidFill>
                <a:latin typeface="Calibri" pitchFamily="34" charset="0"/>
                <a:ea typeface="Calibri" pitchFamily="34" charset="-122"/>
                <a:cs typeface="Calibri" pitchFamily="34" charset="-120"/>
              </a:rPr>
              <a:t>TRABALHO DE CONCLUSÃO DE CURSO</a:t>
            </a:r>
            <a:endParaRPr lang="en-US" sz="1300" dirty="0"/>
          </a:p>
        </p:txBody>
      </p:sp>
      <p:sp>
        <p:nvSpPr>
          <p:cNvPr id="3" name="Text 1"/>
          <p:cNvSpPr txBox="1"/>
          <p:nvPr/>
        </p:nvSpPr>
        <p:spPr>
          <a:xfrm>
            <a:off x="822960" y="2377440"/>
            <a:ext cx="1051560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Painel de Pessoas</a:t>
            </a:r>
            <a:endParaRPr lang="en-US" sz="4800" dirty="0"/>
          </a:p>
        </p:txBody>
      </p:sp>
      <p:sp>
        <p:nvSpPr>
          <p:cNvPr id="4" name="Text 2"/>
          <p:cNvSpPr txBox="1"/>
          <p:nvPr/>
        </p:nvSpPr>
        <p:spPr>
          <a:xfrm>
            <a:off x="822960" y="3429000"/>
            <a:ext cx="9692640" cy="822960"/>
          </a:xfrm>
          <a:prstGeom prst="rect">
            <a:avLst/>
          </a:prstGeom>
          <a:noFill/>
          <a:ln/>
        </p:spPr>
        <p:txBody>
          <a:bodyPr wrap="square" lIns="0" tIns="0" rIns="0" bIns="0" rtlCol="0" anchor="ctr"/>
          <a:lstStyle/>
          <a:p>
            <a:pPr indent="0" marL="0">
              <a:lnSpc>
                <a:spcPct val="115000"/>
              </a:lnSpc>
              <a:buNone/>
            </a:pPr>
            <a:r>
              <a:rPr lang="en-US" sz="1700" i="1" dirty="0">
                <a:solidFill>
                  <a:srgbClr val="C7D3E8"/>
                </a:solidFill>
                <a:latin typeface="Calibri" pitchFamily="34" charset="0"/>
                <a:ea typeface="Calibri" pitchFamily="34" charset="-122"/>
                <a:cs typeface="Calibri" pitchFamily="34" charset="-120"/>
              </a:rPr>
              <a:t>Uma plataforma de People Analytics com geração automática de dashboard por inteligência artificial, para usuários de negócio</a:t>
            </a:r>
            <a:endParaRPr lang="en-US" sz="1700" dirty="0"/>
          </a:p>
        </p:txBody>
      </p:sp>
      <p:sp>
        <p:nvSpPr>
          <p:cNvPr id="5" name="Text 3"/>
          <p:cNvSpPr txBox="1"/>
          <p:nvPr/>
        </p:nvSpPr>
        <p:spPr>
          <a:xfrm>
            <a:off x="822960" y="4709160"/>
            <a:ext cx="6400800" cy="73152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Breno Ryan de Andrade Fernandes</a:t>
            </a:r>
            <a:endParaRPr lang="en-US" sz="1400" dirty="0"/>
          </a:p>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João Vitor Ferreira Azevedo Pereira</a:t>
            </a:r>
            <a:endParaRPr lang="en-US" sz="1400" dirty="0"/>
          </a:p>
        </p:txBody>
      </p:sp>
      <p:sp>
        <p:nvSpPr>
          <p:cNvPr id="6" name="Text 4"/>
          <p:cNvSpPr txBox="1"/>
          <p:nvPr/>
        </p:nvSpPr>
        <p:spPr>
          <a:xfrm>
            <a:off x="822960" y="6126480"/>
            <a:ext cx="10058400" cy="365760"/>
          </a:xfrm>
          <a:prstGeom prst="rect">
            <a:avLst/>
          </a:prstGeom>
          <a:noFill/>
          <a:ln/>
        </p:spPr>
        <p:txBody>
          <a:bodyPr wrap="square" lIns="0" tIns="0" rIns="0" bIns="0" rtlCol="0" anchor="ctr"/>
          <a:lstStyle/>
          <a:p>
            <a:pPr indent="0" marL="0">
              <a:buNone/>
            </a:pPr>
            <a:r>
              <a:rPr lang="en-US" sz="1200" dirty="0">
                <a:solidFill>
                  <a:srgbClr val="8FA6C9"/>
                </a:solidFill>
                <a:latin typeface="Calibri" pitchFamily="34" charset="0"/>
                <a:ea typeface="Calibri" pitchFamily="34" charset="-122"/>
                <a:cs typeface="Calibri" pitchFamily="34" charset="-120"/>
              </a:rPr>
              <a:t>Orientador: Carlos Henrique Feichas   ·   Coorientador: Bruno Bustamante Ferreira Leonor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365760"/>
          </a:xfrm>
          <a:prstGeom prst="rect">
            <a:avLst/>
          </a:prstGeom>
          <a:noFill/>
          <a:ln/>
        </p:spPr>
        <p:txBody>
          <a:bodyPr wrap="square" lIns="0" tIns="0" rIns="0" bIns="0" rtlCol="0" anchor="ctr"/>
          <a:lstStyle/>
          <a:p>
            <a:pPr indent="0" marL="0">
              <a:buNone/>
            </a:pPr>
            <a:r>
              <a:rPr lang="en-US" sz="1300" b="1" spc="200" kern="0" dirty="0">
                <a:solidFill>
                  <a:srgbClr val="2F6F5E"/>
                </a:solidFill>
                <a:latin typeface="Calibri" pitchFamily="34" charset="0"/>
                <a:ea typeface="Calibri" pitchFamily="34" charset="-122"/>
                <a:cs typeface="Calibri" pitchFamily="34" charset="-120"/>
              </a:rPr>
              <a:t>O PROBLEMA</a:t>
            </a:r>
            <a:endParaRPr lang="en-US" sz="1300" dirty="0"/>
          </a:p>
        </p:txBody>
      </p:sp>
      <p:sp>
        <p:nvSpPr>
          <p:cNvPr id="3" name="Text 1"/>
          <p:cNvSpPr txBox="1"/>
          <p:nvPr/>
        </p:nvSpPr>
        <p:spPr>
          <a:xfrm>
            <a:off x="548640" y="749808"/>
            <a:ext cx="11064240" cy="914400"/>
          </a:xfrm>
          <a:prstGeom prst="rect">
            <a:avLst/>
          </a:prstGeom>
          <a:noFill/>
          <a:ln/>
        </p:spPr>
        <p:txBody>
          <a:bodyPr wrap="square" lIns="0" tIns="0" rIns="0" bIns="0" rtlCol="0" anchor="ctr"/>
          <a:lstStyle/>
          <a:p>
            <a:pPr indent="0" marL="0">
              <a:buNone/>
            </a:pPr>
            <a:r>
              <a:rPr lang="en-US" sz="3400" b="1" dirty="0">
                <a:solidFill>
                  <a:srgbClr val="16213B"/>
                </a:solidFill>
                <a:latin typeface="Cambria" pitchFamily="34" charset="0"/>
                <a:ea typeface="Cambria" pitchFamily="34" charset="-122"/>
                <a:cs typeface="Cambria" pitchFamily="34" charset="-120"/>
              </a:rPr>
              <a:t>RH depende de TI até para</a:t>
            </a:r>
            <a:endParaRPr lang="en-US" sz="3400" dirty="0"/>
          </a:p>
          <a:p>
            <a:pPr indent="0" marL="0">
              <a:buNone/>
            </a:pPr>
            <a:r>
              <a:rPr lang="en-US" sz="3400" b="1" dirty="0">
                <a:solidFill>
                  <a:srgbClr val="16213B"/>
                </a:solidFill>
                <a:latin typeface="Cambria" pitchFamily="34" charset="0"/>
                <a:ea typeface="Cambria" pitchFamily="34" charset="-122"/>
                <a:cs typeface="Cambria" pitchFamily="34" charset="-120"/>
              </a:rPr>
              <a:t>perguntas simples</a:t>
            </a:r>
            <a:endParaRPr lang="en-US" sz="3400" dirty="0"/>
          </a:p>
        </p:txBody>
      </p:sp>
      <p:sp>
        <p:nvSpPr>
          <p:cNvPr id="4" name="Text 2"/>
          <p:cNvSpPr txBox="1"/>
          <p:nvPr/>
        </p:nvSpPr>
        <p:spPr>
          <a:xfrm>
            <a:off x="548640" y="2286000"/>
            <a:ext cx="6400800" cy="3474720"/>
          </a:xfrm>
          <a:prstGeom prst="rect">
            <a:avLst/>
          </a:prstGeom>
          <a:noFill/>
          <a:ln/>
        </p:spPr>
        <p:txBody>
          <a:bodyPr wrap="square" lIns="0" tIns="0" rIns="0" bIns="0" rtlCol="0" anchor="ctr"/>
          <a:lstStyle/>
          <a:p>
            <a:pPr marL="342900" indent="-342900">
              <a:lnSpc>
                <a:spcPct val="120000"/>
              </a:lnSpc>
              <a:spcAft>
                <a:spcPts val="1400"/>
              </a:spcAft>
              <a:buSzPct val="100000"/>
              <a:buChar char="•"/>
            </a:pPr>
            <a:r>
              <a:rPr lang="en-US" sz="1800" dirty="0">
                <a:solidFill>
                  <a:srgbClr val="1A1A1A"/>
                </a:solidFill>
                <a:latin typeface="Calibri" pitchFamily="34" charset="0"/>
                <a:ea typeface="Calibri" pitchFamily="34" charset="-122"/>
                <a:cs typeface="Calibri" pitchFamily="34" charset="-120"/>
              </a:rPr>
              <a:t>Toda análise de dados de pessoas passa por uma fila compartilhada com todas as áreas da empresa</a:t>
            </a:r>
            <a:endParaRPr lang="en-US" sz="1800" dirty="0"/>
          </a:p>
          <a:p>
            <a:pPr marL="342900" indent="-342900">
              <a:lnSpc>
                <a:spcPct val="120000"/>
              </a:lnSpc>
              <a:spcAft>
                <a:spcPts val="1400"/>
              </a:spcAft>
              <a:buSzPct val="100000"/>
              <a:buChar char="•"/>
            </a:pPr>
            <a:r>
              <a:rPr lang="en-US" sz="1800" dirty="0">
                <a:solidFill>
                  <a:srgbClr val="1A1A1A"/>
                </a:solidFill>
                <a:latin typeface="Calibri" pitchFamily="34" charset="0"/>
                <a:ea typeface="Calibri" pitchFamily="34" charset="-122"/>
                <a:cs typeface="Calibri" pitchFamily="34" charset="-120"/>
              </a:rPr>
              <a:t>Quando o relatório finalmente chega, é fechado e estático — nova pergunta, nova fila</a:t>
            </a:r>
            <a:endParaRPr lang="en-US" sz="1800" dirty="0"/>
          </a:p>
          <a:p>
            <a:pPr marL="342900" indent="-342900">
              <a:lnSpc>
                <a:spcPct val="120000"/>
              </a:lnSpc>
              <a:buSzPct val="100000"/>
              <a:buChar char="•"/>
            </a:pPr>
            <a:r>
              <a:rPr lang="en-US" sz="1800" dirty="0">
                <a:solidFill>
                  <a:srgbClr val="1A1A1A"/>
                </a:solidFill>
                <a:latin typeface="Calibri" pitchFamily="34" charset="0"/>
                <a:ea typeface="Calibri" pitchFamily="34" charset="-122"/>
                <a:cs typeface="Calibri" pitchFamily="34" charset="-120"/>
              </a:rPr>
              <a:t>RH raramente tem formação em modelagem de dados</a:t>
            </a:r>
            <a:endParaRPr lang="en-US" sz="1800" dirty="0"/>
          </a:p>
        </p:txBody>
      </p:sp>
      <p:sp>
        <p:nvSpPr>
          <p:cNvPr id="5" name="Shape 3"/>
          <p:cNvSpPr/>
          <p:nvPr/>
        </p:nvSpPr>
        <p:spPr>
          <a:xfrm>
            <a:off x="7406640" y="2331720"/>
            <a:ext cx="4251960" cy="3383280"/>
          </a:xfrm>
          <a:prstGeom prst="roundRect">
            <a:avLst>
              <a:gd name="adj" fmla="val 3243"/>
            </a:avLst>
          </a:prstGeom>
          <a:solidFill>
            <a:srgbClr val="F4F4F1"/>
          </a:solidFill>
          <a:ln/>
        </p:spPr>
      </p:sp>
      <p:sp>
        <p:nvSpPr>
          <p:cNvPr id="6" name="Text 4"/>
          <p:cNvSpPr txBox="1"/>
          <p:nvPr/>
        </p:nvSpPr>
        <p:spPr>
          <a:xfrm>
            <a:off x="7680960" y="2606040"/>
            <a:ext cx="3703320" cy="2103120"/>
          </a:xfrm>
          <a:prstGeom prst="rect">
            <a:avLst/>
          </a:prstGeom>
          <a:noFill/>
          <a:ln/>
        </p:spPr>
        <p:txBody>
          <a:bodyPr wrap="square" lIns="0" tIns="0" rIns="0" bIns="0" rtlCol="0" anchor="ctr"/>
          <a:lstStyle/>
          <a:p>
            <a:pPr indent="0" marL="0">
              <a:lnSpc>
                <a:spcPct val="125000"/>
              </a:lnSpc>
              <a:buNone/>
            </a:pPr>
            <a:r>
              <a:rPr lang="en-US" sz="1500" i="1" dirty="0">
                <a:solidFill>
                  <a:srgbClr val="1F4B3F"/>
                </a:solidFill>
                <a:latin typeface="Cambria" pitchFamily="34" charset="0"/>
                <a:ea typeface="Cambria" pitchFamily="34" charset="-122"/>
                <a:cs typeface="Cambria" pitchFamily="34" charset="-120"/>
              </a:rPr>
              <a:t>“Não aproveitamos o potencial dos nossos dados porque as ferramentas continuam concentradas na TI, não no RH.”</a:t>
            </a:r>
            <a:endParaRPr lang="en-US" sz="1500" dirty="0"/>
          </a:p>
        </p:txBody>
      </p:sp>
      <p:sp>
        <p:nvSpPr>
          <p:cNvPr id="7" name="Text 5"/>
          <p:cNvSpPr txBox="1"/>
          <p:nvPr/>
        </p:nvSpPr>
        <p:spPr>
          <a:xfrm>
            <a:off x="7680960" y="4892040"/>
            <a:ext cx="3703320" cy="365760"/>
          </a:xfrm>
          <a:prstGeom prst="rect">
            <a:avLst/>
          </a:prstGeom>
          <a:noFill/>
          <a:ln/>
        </p:spPr>
        <p:txBody>
          <a:bodyPr wrap="square" lIns="0" tIns="0" rIns="0" bIns="0" rtlCol="0" anchor="ctr"/>
          <a:lstStyle/>
          <a:p>
            <a:pPr indent="0" marL="0">
              <a:buNone/>
            </a:pPr>
            <a:r>
              <a:rPr lang="en-US" sz="1200" dirty="0">
                <a:solidFill>
                  <a:srgbClr val="5A6472"/>
                </a:solidFill>
                <a:latin typeface="Calibri" pitchFamily="34" charset="0"/>
                <a:ea typeface="Calibri" pitchFamily="34" charset="-122"/>
                <a:cs typeface="Calibri" pitchFamily="34" charset="-120"/>
              </a:rPr>
              <a:t>— síntese de Angrave et al. (2016)</a:t>
            </a:r>
            <a:endParaRPr lang="en-US" sz="1200" dirty="0"/>
          </a:p>
        </p:txBody>
      </p:sp>
      <p:sp>
        <p:nvSpPr>
          <p:cNvPr id="8" name="Text 6"/>
          <p:cNvSpPr txBox="1"/>
          <p:nvPr/>
        </p:nvSpPr>
        <p:spPr>
          <a:xfrm>
            <a:off x="11475720" y="6446520"/>
            <a:ext cx="457200" cy="320040"/>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4B3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365760"/>
          </a:xfrm>
          <a:prstGeom prst="rect">
            <a:avLst/>
          </a:prstGeom>
          <a:noFill/>
          <a:ln/>
        </p:spPr>
        <p:txBody>
          <a:bodyPr wrap="square" lIns="0" tIns="0" rIns="0" bIns="0" rtlCol="0" anchor="ctr"/>
          <a:lstStyle/>
          <a:p>
            <a:pPr indent="0" marL="0">
              <a:buNone/>
            </a:pPr>
            <a:r>
              <a:rPr lang="en-US" sz="1300" b="1" spc="200" kern="0" dirty="0">
                <a:solidFill>
                  <a:srgbClr val="C9E3D6"/>
                </a:solidFill>
                <a:latin typeface="Calibri" pitchFamily="34" charset="0"/>
                <a:ea typeface="Calibri" pitchFamily="34" charset="-122"/>
                <a:cs typeface="Calibri" pitchFamily="34" charset="-120"/>
              </a:rPr>
              <a:t>OBJETIVO GERAL</a:t>
            </a:r>
            <a:endParaRPr lang="en-US" sz="1300" dirty="0"/>
          </a:p>
        </p:txBody>
      </p:sp>
      <p:sp>
        <p:nvSpPr>
          <p:cNvPr id="3" name="Text 1"/>
          <p:cNvSpPr txBox="1"/>
          <p:nvPr/>
        </p:nvSpPr>
        <p:spPr>
          <a:xfrm>
            <a:off x="822960" y="2011680"/>
            <a:ext cx="10515600" cy="2926080"/>
          </a:xfrm>
          <a:prstGeom prst="rect">
            <a:avLst/>
          </a:prstGeom>
          <a:noFill/>
          <a:ln/>
        </p:spPr>
        <p:txBody>
          <a:bodyPr wrap="square" lIns="0" tIns="0" rIns="0" bIns="0" rtlCol="0" anchor="ctr"/>
          <a:lstStyle/>
          <a:p>
            <a:pPr indent="0" marL="0">
              <a:lnSpc>
                <a:spcPct val="125000"/>
              </a:lnSpc>
              <a:buNone/>
            </a:pPr>
            <a:r>
              <a:rPr lang="en-US" sz="3000" b="1" dirty="0">
                <a:solidFill>
                  <a:srgbClr val="FFFFFF"/>
                </a:solidFill>
                <a:latin typeface="Cambria" pitchFamily="34" charset="0"/>
                <a:ea typeface="Cambria" pitchFamily="34" charset="-122"/>
                <a:cs typeface="Cambria" pitchFamily="34" charset="-120"/>
              </a:rPr>
              <a:t>Desenvolver uma plataforma que interpreta, por IA, a estrutura de qualquer base de RH e planeja automaticamente um dashboard — sem modelagem prévia e sem intervenção técnica</a:t>
            </a:r>
            <a:endParaRPr lang="en-US" sz="3000" dirty="0"/>
          </a:p>
        </p:txBody>
      </p:sp>
      <p:sp>
        <p:nvSpPr>
          <p:cNvPr id="4" name="Text 2"/>
          <p:cNvSpPr txBox="1"/>
          <p:nvPr/>
        </p:nvSpPr>
        <p:spPr>
          <a:xfrm>
            <a:off x="822960" y="5440680"/>
            <a:ext cx="9144000" cy="457200"/>
          </a:xfrm>
          <a:prstGeom prst="rect">
            <a:avLst/>
          </a:prstGeom>
          <a:noFill/>
          <a:ln/>
        </p:spPr>
        <p:txBody>
          <a:bodyPr wrap="square" lIns="0" tIns="0" rIns="0" bIns="0" rtlCol="0" anchor="ctr"/>
          <a:lstStyle/>
          <a:p>
            <a:pPr indent="0" marL="0">
              <a:buNone/>
            </a:pPr>
            <a:r>
              <a:rPr lang="en-US" sz="1500" i="1" dirty="0">
                <a:solidFill>
                  <a:srgbClr val="C9E3D6"/>
                </a:solidFill>
                <a:latin typeface="Calibri" pitchFamily="34" charset="0"/>
                <a:ea typeface="Calibri" pitchFamily="34" charset="-122"/>
                <a:cs typeface="Calibri" pitchFamily="34" charset="-120"/>
              </a:rPr>
              <a:t>Sem exigir que o usuário de negócio entenda a estrutura dos próprios dados</a:t>
            </a:r>
            <a:endParaRPr lang="en-US" sz="1500" dirty="0"/>
          </a:p>
        </p:txBody>
      </p:sp>
      <p:sp>
        <p:nvSpPr>
          <p:cNvPr id="5" name="Text 3"/>
          <p:cNvSpPr txBox="1"/>
          <p:nvPr/>
        </p:nvSpPr>
        <p:spPr>
          <a:xfrm>
            <a:off x="11475720" y="6446520"/>
            <a:ext cx="457200" cy="320040"/>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365760"/>
          </a:xfrm>
          <a:prstGeom prst="rect">
            <a:avLst/>
          </a:prstGeom>
          <a:noFill/>
          <a:ln/>
        </p:spPr>
        <p:txBody>
          <a:bodyPr wrap="square" lIns="0" tIns="0" rIns="0" bIns="0" rtlCol="0" anchor="ctr"/>
          <a:lstStyle/>
          <a:p>
            <a:pPr indent="0" marL="0">
              <a:buNone/>
            </a:pPr>
            <a:r>
              <a:rPr lang="en-US" sz="1300" b="1" spc="200" kern="0" dirty="0">
                <a:solidFill>
                  <a:srgbClr val="2F6F5E"/>
                </a:solidFill>
                <a:latin typeface="Calibri" pitchFamily="34" charset="0"/>
                <a:ea typeface="Calibri" pitchFamily="34" charset="-122"/>
                <a:cs typeface="Calibri" pitchFamily="34" charset="-120"/>
              </a:rPr>
              <a:t>FUNDAMENTAÇÃO TEÓRICA</a:t>
            </a:r>
            <a:endParaRPr lang="en-US" sz="1300" dirty="0"/>
          </a:p>
        </p:txBody>
      </p:sp>
      <p:sp>
        <p:nvSpPr>
          <p:cNvPr id="3" name="Text 1"/>
          <p:cNvSpPr txBox="1"/>
          <p:nvPr/>
        </p:nvSpPr>
        <p:spPr>
          <a:xfrm>
            <a:off x="548640" y="749808"/>
            <a:ext cx="11064240" cy="914400"/>
          </a:xfrm>
          <a:prstGeom prst="rect">
            <a:avLst/>
          </a:prstGeom>
          <a:noFill/>
          <a:ln/>
        </p:spPr>
        <p:txBody>
          <a:bodyPr wrap="square" lIns="0" tIns="0" rIns="0" bIns="0" rtlCol="0" anchor="ctr"/>
          <a:lstStyle/>
          <a:p>
            <a:pPr indent="0" marL="0">
              <a:buNone/>
            </a:pPr>
            <a:r>
              <a:rPr lang="en-US" sz="3400" b="1" dirty="0">
                <a:solidFill>
                  <a:srgbClr val="16213B"/>
                </a:solidFill>
                <a:latin typeface="Cambria" pitchFamily="34" charset="0"/>
                <a:ea typeface="Cambria" pitchFamily="34" charset="-122"/>
                <a:cs typeface="Cambria" pitchFamily="34" charset="-120"/>
              </a:rPr>
              <a:t>Quatro pilares sustentaram a proposta</a:t>
            </a:r>
            <a:endParaRPr lang="en-US" sz="3400" dirty="0"/>
          </a:p>
        </p:txBody>
      </p:sp>
      <p:sp>
        <p:nvSpPr>
          <p:cNvPr id="4" name="Shape 2"/>
          <p:cNvSpPr/>
          <p:nvPr/>
        </p:nvSpPr>
        <p:spPr>
          <a:xfrm>
            <a:off x="548640" y="2286000"/>
            <a:ext cx="2651760" cy="3383280"/>
          </a:xfrm>
          <a:prstGeom prst="roundRect">
            <a:avLst>
              <a:gd name="adj" fmla="val 3448"/>
            </a:avLst>
          </a:prstGeom>
          <a:solidFill>
            <a:srgbClr val="F4F4F1"/>
          </a:solidFill>
          <a:ln/>
        </p:spPr>
      </p:sp>
      <p:sp>
        <p:nvSpPr>
          <p:cNvPr id="5" name="Text 3"/>
          <p:cNvSpPr txBox="1"/>
          <p:nvPr/>
        </p:nvSpPr>
        <p:spPr>
          <a:xfrm>
            <a:off x="777240" y="2514600"/>
            <a:ext cx="1371600" cy="548640"/>
          </a:xfrm>
          <a:prstGeom prst="rect">
            <a:avLst/>
          </a:prstGeom>
          <a:noFill/>
          <a:ln/>
        </p:spPr>
        <p:txBody>
          <a:bodyPr wrap="square" lIns="0" tIns="0" rIns="0" bIns="0" rtlCol="0" anchor="ctr"/>
          <a:lstStyle/>
          <a:p>
            <a:pPr indent="0" marL="0">
              <a:buNone/>
            </a:pPr>
            <a:r>
              <a:rPr lang="en-US" sz="2600" b="1" dirty="0">
                <a:solidFill>
                  <a:srgbClr val="C6852F"/>
                </a:solidFill>
                <a:latin typeface="Cambria" pitchFamily="34" charset="0"/>
                <a:ea typeface="Cambria" pitchFamily="34" charset="-122"/>
                <a:cs typeface="Cambria" pitchFamily="34" charset="-120"/>
              </a:rPr>
              <a:t>01</a:t>
            </a:r>
            <a:endParaRPr lang="en-US" sz="2600" dirty="0"/>
          </a:p>
        </p:txBody>
      </p:sp>
      <p:sp>
        <p:nvSpPr>
          <p:cNvPr id="6" name="Text 4"/>
          <p:cNvSpPr txBox="1"/>
          <p:nvPr/>
        </p:nvSpPr>
        <p:spPr>
          <a:xfrm>
            <a:off x="777240" y="3154680"/>
            <a:ext cx="2194560" cy="822960"/>
          </a:xfrm>
          <a:prstGeom prst="rect">
            <a:avLst/>
          </a:prstGeom>
          <a:noFill/>
          <a:ln/>
        </p:spPr>
        <p:txBody>
          <a:bodyPr wrap="square" lIns="0" tIns="0" rIns="0" bIns="0" rtlCol="0" anchor="ctr"/>
          <a:lstStyle/>
          <a:p>
            <a:pPr indent="0" marL="0">
              <a:lnSpc>
                <a:spcPct val="110000"/>
              </a:lnSpc>
              <a:buNone/>
            </a:pPr>
            <a:r>
              <a:rPr lang="en-US" sz="1550" b="1" dirty="0">
                <a:solidFill>
                  <a:srgbClr val="16213B"/>
                </a:solidFill>
                <a:latin typeface="Calibri" pitchFamily="34" charset="0"/>
                <a:ea typeface="Calibri" pitchFamily="34" charset="-122"/>
                <a:cs typeface="Calibri" pitchFamily="34" charset="-120"/>
              </a:rPr>
              <a:t>People Analytics</a:t>
            </a:r>
            <a:endParaRPr lang="en-US" sz="1550" dirty="0"/>
          </a:p>
        </p:txBody>
      </p:sp>
      <p:sp>
        <p:nvSpPr>
          <p:cNvPr id="7" name="Text 5"/>
          <p:cNvSpPr txBox="1"/>
          <p:nvPr/>
        </p:nvSpPr>
        <p:spPr>
          <a:xfrm>
            <a:off x="777240" y="3977640"/>
            <a:ext cx="2194560" cy="1188720"/>
          </a:xfrm>
          <a:prstGeom prst="rect">
            <a:avLst/>
          </a:prstGeom>
          <a:noFill/>
          <a:ln/>
        </p:spPr>
        <p:txBody>
          <a:bodyPr wrap="square" lIns="0" tIns="0" rIns="0" bIns="0" rtlCol="0" anchor="ctr"/>
          <a:lstStyle/>
          <a:p>
            <a:pPr indent="0" marL="0">
              <a:lnSpc>
                <a:spcPct val="120000"/>
              </a:lnSpc>
              <a:buNone/>
            </a:pPr>
            <a:r>
              <a:rPr lang="en-US" sz="1200" dirty="0">
                <a:solidFill>
                  <a:srgbClr val="5A6472"/>
                </a:solidFill>
                <a:latin typeface="Calibri" pitchFamily="34" charset="0"/>
                <a:ea typeface="Calibri" pitchFamily="34" charset="-122"/>
                <a:cs typeface="Calibri" pitchFamily="34" charset="-120"/>
              </a:rPr>
              <a:t>RH precisa de dados, mas não tem ferramenta acessível</a:t>
            </a:r>
            <a:endParaRPr lang="en-US" sz="1200" dirty="0"/>
          </a:p>
        </p:txBody>
      </p:sp>
      <p:sp>
        <p:nvSpPr>
          <p:cNvPr id="8" name="Text 6"/>
          <p:cNvSpPr txBox="1"/>
          <p:nvPr/>
        </p:nvSpPr>
        <p:spPr>
          <a:xfrm>
            <a:off x="777240" y="5212080"/>
            <a:ext cx="2194560" cy="365760"/>
          </a:xfrm>
          <a:prstGeom prst="rect">
            <a:avLst/>
          </a:prstGeom>
          <a:noFill/>
          <a:ln/>
        </p:spPr>
        <p:txBody>
          <a:bodyPr wrap="square" lIns="0" tIns="0" rIns="0" bIns="0" rtlCol="0" anchor="ctr"/>
          <a:lstStyle/>
          <a:p>
            <a:pPr indent="0" marL="0">
              <a:buNone/>
            </a:pPr>
            <a:r>
              <a:rPr lang="en-US" sz="1050" i="1" dirty="0">
                <a:solidFill>
                  <a:srgbClr val="2F6F5E"/>
                </a:solidFill>
                <a:latin typeface="Calibri" pitchFamily="34" charset="0"/>
                <a:ea typeface="Calibri" pitchFamily="34" charset="-122"/>
                <a:cs typeface="Calibri" pitchFamily="34" charset="-120"/>
              </a:rPr>
              <a:t>Angrave et al., 2016</a:t>
            </a:r>
            <a:endParaRPr lang="en-US" sz="1050" dirty="0"/>
          </a:p>
        </p:txBody>
      </p:sp>
      <p:sp>
        <p:nvSpPr>
          <p:cNvPr id="9" name="Shape 7"/>
          <p:cNvSpPr/>
          <p:nvPr/>
        </p:nvSpPr>
        <p:spPr>
          <a:xfrm>
            <a:off x="3429000" y="2286000"/>
            <a:ext cx="2651760" cy="3383280"/>
          </a:xfrm>
          <a:prstGeom prst="roundRect">
            <a:avLst>
              <a:gd name="adj" fmla="val 3448"/>
            </a:avLst>
          </a:prstGeom>
          <a:solidFill>
            <a:srgbClr val="F4F4F1"/>
          </a:solidFill>
          <a:ln/>
        </p:spPr>
      </p:sp>
      <p:sp>
        <p:nvSpPr>
          <p:cNvPr id="10" name="Text 8"/>
          <p:cNvSpPr txBox="1"/>
          <p:nvPr/>
        </p:nvSpPr>
        <p:spPr>
          <a:xfrm>
            <a:off x="3657600" y="2514600"/>
            <a:ext cx="1371600" cy="548640"/>
          </a:xfrm>
          <a:prstGeom prst="rect">
            <a:avLst/>
          </a:prstGeom>
          <a:noFill/>
          <a:ln/>
        </p:spPr>
        <p:txBody>
          <a:bodyPr wrap="square" lIns="0" tIns="0" rIns="0" bIns="0" rtlCol="0" anchor="ctr"/>
          <a:lstStyle/>
          <a:p>
            <a:pPr indent="0" marL="0">
              <a:buNone/>
            </a:pPr>
            <a:r>
              <a:rPr lang="en-US" sz="2600" b="1" dirty="0">
                <a:solidFill>
                  <a:srgbClr val="C6852F"/>
                </a:solidFill>
                <a:latin typeface="Cambria" pitchFamily="34" charset="0"/>
                <a:ea typeface="Cambria" pitchFamily="34" charset="-122"/>
                <a:cs typeface="Cambria" pitchFamily="34" charset="-120"/>
              </a:rPr>
              <a:t>02</a:t>
            </a:r>
            <a:endParaRPr lang="en-US" sz="2600" dirty="0"/>
          </a:p>
        </p:txBody>
      </p:sp>
      <p:sp>
        <p:nvSpPr>
          <p:cNvPr id="11" name="Text 9"/>
          <p:cNvSpPr txBox="1"/>
          <p:nvPr/>
        </p:nvSpPr>
        <p:spPr>
          <a:xfrm>
            <a:off x="3657600" y="3154680"/>
            <a:ext cx="2194560" cy="822960"/>
          </a:xfrm>
          <a:prstGeom prst="rect">
            <a:avLst/>
          </a:prstGeom>
          <a:noFill/>
          <a:ln/>
        </p:spPr>
        <p:txBody>
          <a:bodyPr wrap="square" lIns="0" tIns="0" rIns="0" bIns="0" rtlCol="0" anchor="ctr"/>
          <a:lstStyle/>
          <a:p>
            <a:pPr indent="0" marL="0">
              <a:lnSpc>
                <a:spcPct val="110000"/>
              </a:lnSpc>
              <a:buNone/>
            </a:pPr>
            <a:r>
              <a:rPr lang="en-US" sz="1550" b="1" dirty="0">
                <a:solidFill>
                  <a:srgbClr val="16213B"/>
                </a:solidFill>
                <a:latin typeface="Calibri" pitchFamily="34" charset="0"/>
                <a:ea typeface="Calibri" pitchFamily="34" charset="-122"/>
                <a:cs typeface="Calibri" pitchFamily="34" charset="-120"/>
              </a:rPr>
              <a:t>Democratização de dados</a:t>
            </a:r>
            <a:endParaRPr lang="en-US" sz="1550" dirty="0"/>
          </a:p>
        </p:txBody>
      </p:sp>
      <p:sp>
        <p:nvSpPr>
          <p:cNvPr id="12" name="Text 10"/>
          <p:cNvSpPr txBox="1"/>
          <p:nvPr/>
        </p:nvSpPr>
        <p:spPr>
          <a:xfrm>
            <a:off x="3657600" y="3977640"/>
            <a:ext cx="2194560" cy="1188720"/>
          </a:xfrm>
          <a:prstGeom prst="rect">
            <a:avLst/>
          </a:prstGeom>
          <a:noFill/>
          <a:ln/>
        </p:spPr>
        <p:txBody>
          <a:bodyPr wrap="square" lIns="0" tIns="0" rIns="0" bIns="0" rtlCol="0" anchor="ctr"/>
          <a:lstStyle/>
          <a:p>
            <a:pPr indent="0" marL="0">
              <a:lnSpc>
                <a:spcPct val="120000"/>
              </a:lnSpc>
              <a:buNone/>
            </a:pPr>
            <a:r>
              <a:rPr lang="en-US" sz="1200" dirty="0">
                <a:solidFill>
                  <a:srgbClr val="5A6472"/>
                </a:solidFill>
                <a:latin typeface="Calibri" pitchFamily="34" charset="0"/>
                <a:ea typeface="Calibri" pitchFamily="34" charset="-122"/>
                <a:cs typeface="Calibri" pitchFamily="34" charset="-120"/>
              </a:rPr>
              <a:t>Self-service BI e citizen dev. ainda exigem proficiência técnica</a:t>
            </a:r>
            <a:endParaRPr lang="en-US" sz="1200" dirty="0"/>
          </a:p>
        </p:txBody>
      </p:sp>
      <p:sp>
        <p:nvSpPr>
          <p:cNvPr id="13" name="Text 11"/>
          <p:cNvSpPr txBox="1"/>
          <p:nvPr/>
        </p:nvSpPr>
        <p:spPr>
          <a:xfrm>
            <a:off x="3657600" y="5212080"/>
            <a:ext cx="2194560" cy="365760"/>
          </a:xfrm>
          <a:prstGeom prst="rect">
            <a:avLst/>
          </a:prstGeom>
          <a:noFill/>
          <a:ln/>
        </p:spPr>
        <p:txBody>
          <a:bodyPr wrap="square" lIns="0" tIns="0" rIns="0" bIns="0" rtlCol="0" anchor="ctr"/>
          <a:lstStyle/>
          <a:p>
            <a:pPr indent="0" marL="0">
              <a:buNone/>
            </a:pPr>
            <a:r>
              <a:rPr lang="en-US" sz="1050" i="1" dirty="0">
                <a:solidFill>
                  <a:srgbClr val="2F6F5E"/>
                </a:solidFill>
                <a:latin typeface="Calibri" pitchFamily="34" charset="0"/>
                <a:ea typeface="Calibri" pitchFamily="34" charset="-122"/>
                <a:cs typeface="Calibri" pitchFamily="34" charset="-120"/>
              </a:rPr>
              <a:t>Alpar &amp; Schulz, 2016</a:t>
            </a:r>
            <a:endParaRPr lang="en-US" sz="1050" dirty="0"/>
          </a:p>
        </p:txBody>
      </p:sp>
      <p:sp>
        <p:nvSpPr>
          <p:cNvPr id="14" name="Shape 12"/>
          <p:cNvSpPr/>
          <p:nvPr/>
        </p:nvSpPr>
        <p:spPr>
          <a:xfrm>
            <a:off x="6309360" y="2286000"/>
            <a:ext cx="2651760" cy="3383280"/>
          </a:xfrm>
          <a:prstGeom prst="roundRect">
            <a:avLst>
              <a:gd name="adj" fmla="val 3448"/>
            </a:avLst>
          </a:prstGeom>
          <a:solidFill>
            <a:srgbClr val="F4F4F1"/>
          </a:solidFill>
          <a:ln/>
        </p:spPr>
      </p:sp>
      <p:sp>
        <p:nvSpPr>
          <p:cNvPr id="15" name="Text 13"/>
          <p:cNvSpPr txBox="1"/>
          <p:nvPr/>
        </p:nvSpPr>
        <p:spPr>
          <a:xfrm>
            <a:off x="6537960" y="2514600"/>
            <a:ext cx="1371600" cy="548640"/>
          </a:xfrm>
          <a:prstGeom prst="rect">
            <a:avLst/>
          </a:prstGeom>
          <a:noFill/>
          <a:ln/>
        </p:spPr>
        <p:txBody>
          <a:bodyPr wrap="square" lIns="0" tIns="0" rIns="0" bIns="0" rtlCol="0" anchor="ctr"/>
          <a:lstStyle/>
          <a:p>
            <a:pPr indent="0" marL="0">
              <a:buNone/>
            </a:pPr>
            <a:r>
              <a:rPr lang="en-US" sz="2600" b="1" dirty="0">
                <a:solidFill>
                  <a:srgbClr val="C6852F"/>
                </a:solidFill>
                <a:latin typeface="Cambria" pitchFamily="34" charset="0"/>
                <a:ea typeface="Cambria" pitchFamily="34" charset="-122"/>
                <a:cs typeface="Cambria" pitchFamily="34" charset="-120"/>
              </a:rPr>
              <a:t>03</a:t>
            </a:r>
            <a:endParaRPr lang="en-US" sz="2600" dirty="0"/>
          </a:p>
        </p:txBody>
      </p:sp>
      <p:sp>
        <p:nvSpPr>
          <p:cNvPr id="16" name="Text 14"/>
          <p:cNvSpPr txBox="1"/>
          <p:nvPr/>
        </p:nvSpPr>
        <p:spPr>
          <a:xfrm>
            <a:off x="6537960" y="3154680"/>
            <a:ext cx="2194560" cy="822960"/>
          </a:xfrm>
          <a:prstGeom prst="rect">
            <a:avLst/>
          </a:prstGeom>
          <a:noFill/>
          <a:ln/>
        </p:spPr>
        <p:txBody>
          <a:bodyPr wrap="square" lIns="0" tIns="0" rIns="0" bIns="0" rtlCol="0" anchor="ctr"/>
          <a:lstStyle/>
          <a:p>
            <a:pPr indent="0" marL="0">
              <a:lnSpc>
                <a:spcPct val="110000"/>
              </a:lnSpc>
              <a:buNone/>
            </a:pPr>
            <a:r>
              <a:rPr lang="en-US" sz="1550" b="1" dirty="0">
                <a:solidFill>
                  <a:srgbClr val="16213B"/>
                </a:solidFill>
                <a:latin typeface="Calibri" pitchFamily="34" charset="0"/>
                <a:ea typeface="Calibri" pitchFamily="34" charset="-122"/>
                <a:cs typeface="Calibri" pitchFamily="34" charset="-120"/>
              </a:rPr>
              <a:t>IA para visualização</a:t>
            </a:r>
            <a:endParaRPr lang="en-US" sz="1550" dirty="0"/>
          </a:p>
        </p:txBody>
      </p:sp>
      <p:sp>
        <p:nvSpPr>
          <p:cNvPr id="17" name="Text 15"/>
          <p:cNvSpPr txBox="1"/>
          <p:nvPr/>
        </p:nvSpPr>
        <p:spPr>
          <a:xfrm>
            <a:off x="6537960" y="3977640"/>
            <a:ext cx="2194560" cy="1188720"/>
          </a:xfrm>
          <a:prstGeom prst="rect">
            <a:avLst/>
          </a:prstGeom>
          <a:noFill/>
          <a:ln/>
        </p:spPr>
        <p:txBody>
          <a:bodyPr wrap="square" lIns="0" tIns="0" rIns="0" bIns="0" rtlCol="0" anchor="ctr"/>
          <a:lstStyle/>
          <a:p>
            <a:pPr indent="0" marL="0">
              <a:lnSpc>
                <a:spcPct val="120000"/>
              </a:lnSpc>
              <a:buNone/>
            </a:pPr>
            <a:r>
              <a:rPr lang="en-US" sz="1200" dirty="0">
                <a:solidFill>
                  <a:srgbClr val="5A6472"/>
                </a:solidFill>
                <a:latin typeface="Calibri" pitchFamily="34" charset="0"/>
                <a:ea typeface="Calibri" pitchFamily="34" charset="-122"/>
                <a:cs typeface="Calibri" pitchFamily="34" charset="-120"/>
              </a:rPr>
              <a:t>Modelo de linguagem gera especificação declarativa, não código</a:t>
            </a:r>
            <a:endParaRPr lang="en-US" sz="1200" dirty="0"/>
          </a:p>
        </p:txBody>
      </p:sp>
      <p:sp>
        <p:nvSpPr>
          <p:cNvPr id="18" name="Text 16"/>
          <p:cNvSpPr txBox="1"/>
          <p:nvPr/>
        </p:nvSpPr>
        <p:spPr>
          <a:xfrm>
            <a:off x="6537960" y="5212080"/>
            <a:ext cx="2194560" cy="365760"/>
          </a:xfrm>
          <a:prstGeom prst="rect">
            <a:avLst/>
          </a:prstGeom>
          <a:noFill/>
          <a:ln/>
        </p:spPr>
        <p:txBody>
          <a:bodyPr wrap="square" lIns="0" tIns="0" rIns="0" bIns="0" rtlCol="0" anchor="ctr"/>
          <a:lstStyle/>
          <a:p>
            <a:pPr indent="0" marL="0">
              <a:buNone/>
            </a:pPr>
            <a:r>
              <a:rPr lang="en-US" sz="1050" i="1" dirty="0">
                <a:solidFill>
                  <a:srgbClr val="2F6F5E"/>
                </a:solidFill>
                <a:latin typeface="Calibri" pitchFamily="34" charset="0"/>
                <a:ea typeface="Calibri" pitchFamily="34" charset="-122"/>
                <a:cs typeface="Calibri" pitchFamily="34" charset="-120"/>
              </a:rPr>
              <a:t>Shen et al., 2022</a:t>
            </a:r>
            <a:endParaRPr lang="en-US" sz="1050" dirty="0"/>
          </a:p>
        </p:txBody>
      </p:sp>
      <p:sp>
        <p:nvSpPr>
          <p:cNvPr id="19" name="Shape 17"/>
          <p:cNvSpPr/>
          <p:nvPr/>
        </p:nvSpPr>
        <p:spPr>
          <a:xfrm>
            <a:off x="9189720" y="2286000"/>
            <a:ext cx="2651760" cy="3383280"/>
          </a:xfrm>
          <a:prstGeom prst="roundRect">
            <a:avLst>
              <a:gd name="adj" fmla="val 3448"/>
            </a:avLst>
          </a:prstGeom>
          <a:solidFill>
            <a:srgbClr val="F4F4F1"/>
          </a:solidFill>
          <a:ln/>
        </p:spPr>
      </p:sp>
      <p:sp>
        <p:nvSpPr>
          <p:cNvPr id="20" name="Text 18"/>
          <p:cNvSpPr txBox="1"/>
          <p:nvPr/>
        </p:nvSpPr>
        <p:spPr>
          <a:xfrm>
            <a:off x="9418320" y="2514600"/>
            <a:ext cx="1371600" cy="548640"/>
          </a:xfrm>
          <a:prstGeom prst="rect">
            <a:avLst/>
          </a:prstGeom>
          <a:noFill/>
          <a:ln/>
        </p:spPr>
        <p:txBody>
          <a:bodyPr wrap="square" lIns="0" tIns="0" rIns="0" bIns="0" rtlCol="0" anchor="ctr"/>
          <a:lstStyle/>
          <a:p>
            <a:pPr indent="0" marL="0">
              <a:buNone/>
            </a:pPr>
            <a:r>
              <a:rPr lang="en-US" sz="2600" b="1" dirty="0">
                <a:solidFill>
                  <a:srgbClr val="C6852F"/>
                </a:solidFill>
                <a:latin typeface="Cambria" pitchFamily="34" charset="0"/>
                <a:ea typeface="Cambria" pitchFamily="34" charset="-122"/>
                <a:cs typeface="Cambria" pitchFamily="34" charset="-120"/>
              </a:rPr>
              <a:t>04</a:t>
            </a:r>
            <a:endParaRPr lang="en-US" sz="2600" dirty="0"/>
          </a:p>
        </p:txBody>
      </p:sp>
      <p:sp>
        <p:nvSpPr>
          <p:cNvPr id="21" name="Text 19"/>
          <p:cNvSpPr txBox="1"/>
          <p:nvPr/>
        </p:nvSpPr>
        <p:spPr>
          <a:xfrm>
            <a:off x="9418320" y="3154680"/>
            <a:ext cx="2194560" cy="822960"/>
          </a:xfrm>
          <a:prstGeom prst="rect">
            <a:avLst/>
          </a:prstGeom>
          <a:noFill/>
          <a:ln/>
        </p:spPr>
        <p:txBody>
          <a:bodyPr wrap="square" lIns="0" tIns="0" rIns="0" bIns="0" rtlCol="0" anchor="ctr"/>
          <a:lstStyle/>
          <a:p>
            <a:pPr indent="0" marL="0">
              <a:lnSpc>
                <a:spcPct val="110000"/>
              </a:lnSpc>
              <a:buNone/>
            </a:pPr>
            <a:r>
              <a:rPr lang="en-US" sz="1550" b="1" dirty="0">
                <a:solidFill>
                  <a:srgbClr val="16213B"/>
                </a:solidFill>
                <a:latin typeface="Calibri" pitchFamily="34" charset="0"/>
                <a:ea typeface="Calibri" pitchFamily="34" charset="-122"/>
                <a:cs typeface="Calibri" pitchFamily="34" charset="-120"/>
              </a:rPr>
              <a:t>Confiabilidade de IA</a:t>
            </a:r>
            <a:endParaRPr lang="en-US" sz="1550" dirty="0"/>
          </a:p>
        </p:txBody>
      </p:sp>
      <p:sp>
        <p:nvSpPr>
          <p:cNvPr id="22" name="Text 20"/>
          <p:cNvSpPr txBox="1"/>
          <p:nvPr/>
        </p:nvSpPr>
        <p:spPr>
          <a:xfrm>
            <a:off x="9418320" y="3977640"/>
            <a:ext cx="2194560" cy="1188720"/>
          </a:xfrm>
          <a:prstGeom prst="rect">
            <a:avLst/>
          </a:prstGeom>
          <a:noFill/>
          <a:ln/>
        </p:spPr>
        <p:txBody>
          <a:bodyPr wrap="square" lIns="0" tIns="0" rIns="0" bIns="0" rtlCol="0" anchor="ctr"/>
          <a:lstStyle/>
          <a:p>
            <a:pPr indent="0" marL="0">
              <a:lnSpc>
                <a:spcPct val="120000"/>
              </a:lnSpc>
              <a:buNone/>
            </a:pPr>
            <a:r>
              <a:rPr lang="en-US" sz="1200" dirty="0">
                <a:solidFill>
                  <a:srgbClr val="5A6472"/>
                </a:solidFill>
                <a:latin typeface="Calibri" pitchFamily="34" charset="0"/>
                <a:ea typeface="Calibri" pitchFamily="34" charset="-122"/>
                <a:cs typeface="Calibri" pitchFamily="34" charset="-120"/>
              </a:rPr>
              <a:t>Alucinação exige validação antes de qualquer número exibido</a:t>
            </a:r>
            <a:endParaRPr lang="en-US" sz="1200" dirty="0"/>
          </a:p>
        </p:txBody>
      </p:sp>
      <p:sp>
        <p:nvSpPr>
          <p:cNvPr id="23" name="Text 21"/>
          <p:cNvSpPr txBox="1"/>
          <p:nvPr/>
        </p:nvSpPr>
        <p:spPr>
          <a:xfrm>
            <a:off x="9418320" y="5212080"/>
            <a:ext cx="2194560" cy="365760"/>
          </a:xfrm>
          <a:prstGeom prst="rect">
            <a:avLst/>
          </a:prstGeom>
          <a:noFill/>
          <a:ln/>
        </p:spPr>
        <p:txBody>
          <a:bodyPr wrap="square" lIns="0" tIns="0" rIns="0" bIns="0" rtlCol="0" anchor="ctr"/>
          <a:lstStyle/>
          <a:p>
            <a:pPr indent="0" marL="0">
              <a:buNone/>
            </a:pPr>
            <a:r>
              <a:rPr lang="en-US" sz="1050" i="1" dirty="0">
                <a:solidFill>
                  <a:srgbClr val="2F6F5E"/>
                </a:solidFill>
                <a:latin typeface="Calibri" pitchFamily="34" charset="0"/>
                <a:ea typeface="Calibri" pitchFamily="34" charset="-122"/>
                <a:cs typeface="Calibri" pitchFamily="34" charset="-120"/>
              </a:rPr>
              <a:t>Ji et al., 2023</a:t>
            </a:r>
            <a:endParaRPr lang="en-US" sz="1050" dirty="0"/>
          </a:p>
        </p:txBody>
      </p:sp>
      <p:sp>
        <p:nvSpPr>
          <p:cNvPr id="24" name="Text 22"/>
          <p:cNvSpPr txBox="1"/>
          <p:nvPr/>
        </p:nvSpPr>
        <p:spPr>
          <a:xfrm>
            <a:off x="11475720" y="6446520"/>
            <a:ext cx="457200" cy="320040"/>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13B"/>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365760"/>
          </a:xfrm>
          <a:prstGeom prst="rect">
            <a:avLst/>
          </a:prstGeom>
          <a:noFill/>
          <a:ln/>
        </p:spPr>
        <p:txBody>
          <a:bodyPr wrap="square" lIns="0" tIns="0" rIns="0" bIns="0" rtlCol="0" anchor="ctr"/>
          <a:lstStyle/>
          <a:p>
            <a:pPr indent="0" marL="0">
              <a:buNone/>
            </a:pPr>
            <a:r>
              <a:rPr lang="en-US" sz="1300" b="1" spc="200" kern="0" dirty="0">
                <a:solidFill>
                  <a:srgbClr val="8FA6C9"/>
                </a:solidFill>
                <a:latin typeface="Calibri" pitchFamily="34" charset="0"/>
                <a:ea typeface="Calibri" pitchFamily="34" charset="-122"/>
                <a:cs typeface="Calibri" pitchFamily="34" charset="-120"/>
              </a:rPr>
              <a:t>A DECISÃO CENTRAL</a:t>
            </a:r>
            <a:endParaRPr lang="en-US" sz="1300" dirty="0"/>
          </a:p>
        </p:txBody>
      </p:sp>
      <p:sp>
        <p:nvSpPr>
          <p:cNvPr id="3" name="Text 1"/>
          <p:cNvSpPr txBox="1"/>
          <p:nvPr/>
        </p:nvSpPr>
        <p:spPr>
          <a:xfrm>
            <a:off x="548640" y="777240"/>
            <a:ext cx="109728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IA decide. O código sempre calcula.</a:t>
            </a:r>
            <a:endParaRPr lang="en-US" sz="3200" dirty="0"/>
          </a:p>
        </p:txBody>
      </p:sp>
      <p:pic>
        <p:nvPicPr>
          <p:cNvPr id="4" name="Image 0" descr="/home/claude/tcc_build/fig2_arquitetura.png">    </p:cNvPr>
          <p:cNvPicPr>
            <a:picLocks noChangeAspect="1"/>
          </p:cNvPicPr>
          <p:nvPr/>
        </p:nvPicPr>
        <p:blipFill>
          <a:blip r:embed="rId1"/>
          <a:srcRect l="0" r="0" t="0" b="0"/>
          <a:stretch/>
        </p:blipFill>
        <p:spPr>
          <a:xfrm>
            <a:off x="1463040" y="1874520"/>
            <a:ext cx="9235440" cy="3931920"/>
          </a:xfrm>
          <a:prstGeom prst="rect">
            <a:avLst/>
          </a:prstGeom>
        </p:spPr>
      </p:pic>
      <p:sp>
        <p:nvSpPr>
          <p:cNvPr id="5" name="Text 2"/>
          <p:cNvSpPr txBox="1"/>
          <p:nvPr/>
        </p:nvSpPr>
        <p:spPr>
          <a:xfrm>
            <a:off x="11475720" y="6446520"/>
            <a:ext cx="457200" cy="320040"/>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365760"/>
          </a:xfrm>
          <a:prstGeom prst="rect">
            <a:avLst/>
          </a:prstGeom>
          <a:noFill/>
          <a:ln/>
        </p:spPr>
        <p:txBody>
          <a:bodyPr wrap="square" lIns="0" tIns="0" rIns="0" bIns="0" rtlCol="0" anchor="ctr"/>
          <a:lstStyle/>
          <a:p>
            <a:pPr indent="0" marL="0">
              <a:buNone/>
            </a:pPr>
            <a:r>
              <a:rPr lang="en-US" sz="1300" b="1" spc="200" kern="0" dirty="0">
                <a:solidFill>
                  <a:srgbClr val="2F6F5E"/>
                </a:solidFill>
                <a:latin typeface="Calibri" pitchFamily="34" charset="0"/>
                <a:ea typeface="Calibri" pitchFamily="34" charset="-122"/>
                <a:cs typeface="Calibri" pitchFamily="34" charset="-120"/>
              </a:rPr>
              <a:t>MATERIAIS E MÉTODOS</a:t>
            </a:r>
            <a:endParaRPr lang="en-US" sz="1300" dirty="0"/>
          </a:p>
        </p:txBody>
      </p:sp>
      <p:sp>
        <p:nvSpPr>
          <p:cNvPr id="3" name="Text 1"/>
          <p:cNvSpPr txBox="1"/>
          <p:nvPr/>
        </p:nvSpPr>
        <p:spPr>
          <a:xfrm>
            <a:off x="548640" y="749808"/>
            <a:ext cx="11064240" cy="914400"/>
          </a:xfrm>
          <a:prstGeom prst="rect">
            <a:avLst/>
          </a:prstGeom>
          <a:noFill/>
          <a:ln/>
        </p:spPr>
        <p:txBody>
          <a:bodyPr wrap="square" lIns="0" tIns="0" rIns="0" bIns="0" rtlCol="0" anchor="ctr"/>
          <a:lstStyle/>
          <a:p>
            <a:pPr indent="0" marL="0">
              <a:buNone/>
            </a:pPr>
            <a:r>
              <a:rPr lang="en-US" sz="3400" b="1" dirty="0">
                <a:solidFill>
                  <a:srgbClr val="16213B"/>
                </a:solidFill>
                <a:latin typeface="Cambria" pitchFamily="34" charset="0"/>
                <a:ea typeface="Cambria" pitchFamily="34" charset="-122"/>
                <a:cs typeface="Cambria" pitchFamily="34" charset="-120"/>
              </a:rPr>
              <a:t>Do upload ao dashboard: 9 etapas</a:t>
            </a:r>
            <a:endParaRPr lang="en-US" sz="3400" dirty="0"/>
          </a:p>
        </p:txBody>
      </p:sp>
      <p:pic>
        <p:nvPicPr>
          <p:cNvPr id="4" name="Image 0" descr="/home/claude/tcc_build/fig1_pipeline.png">    </p:cNvPr>
          <p:cNvPicPr>
            <a:picLocks noChangeAspect="1"/>
          </p:cNvPicPr>
          <p:nvPr/>
        </p:nvPicPr>
        <p:blipFill>
          <a:blip r:embed="rId1"/>
          <a:srcRect l="0" r="0" t="0" b="0"/>
          <a:stretch/>
        </p:blipFill>
        <p:spPr>
          <a:xfrm>
            <a:off x="457200" y="2103120"/>
            <a:ext cx="11247120" cy="3657600"/>
          </a:xfrm>
          <a:prstGeom prst="rect">
            <a:avLst/>
          </a:prstGeom>
        </p:spPr>
      </p:pic>
      <p:sp>
        <p:nvSpPr>
          <p:cNvPr id="5" name="Text 2"/>
          <p:cNvSpPr txBox="1"/>
          <p:nvPr/>
        </p:nvSpPr>
        <p:spPr>
          <a:xfrm>
            <a:off x="11475720" y="6446520"/>
            <a:ext cx="457200" cy="320040"/>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365760"/>
          </a:xfrm>
          <a:prstGeom prst="rect">
            <a:avLst/>
          </a:prstGeom>
          <a:noFill/>
          <a:ln/>
        </p:spPr>
        <p:txBody>
          <a:bodyPr wrap="square" lIns="0" tIns="0" rIns="0" bIns="0" rtlCol="0" anchor="ctr"/>
          <a:lstStyle/>
          <a:p>
            <a:pPr indent="0" marL="0">
              <a:buNone/>
            </a:pPr>
            <a:r>
              <a:rPr lang="en-US" sz="1300" b="1" spc="200" kern="0" dirty="0">
                <a:solidFill>
                  <a:srgbClr val="2F6F5E"/>
                </a:solidFill>
                <a:latin typeface="Calibri" pitchFamily="34" charset="0"/>
                <a:ea typeface="Calibri" pitchFamily="34" charset="-122"/>
                <a:cs typeface="Calibri" pitchFamily="34" charset="-120"/>
              </a:rPr>
              <a:t>MATERIAIS E MÉTODOS</a:t>
            </a:r>
            <a:endParaRPr lang="en-US" sz="1300" dirty="0"/>
          </a:p>
        </p:txBody>
      </p:sp>
      <p:sp>
        <p:nvSpPr>
          <p:cNvPr id="3" name="Text 1"/>
          <p:cNvSpPr txBox="1"/>
          <p:nvPr/>
        </p:nvSpPr>
        <p:spPr>
          <a:xfrm>
            <a:off x="548640" y="749808"/>
            <a:ext cx="11064240" cy="914400"/>
          </a:xfrm>
          <a:prstGeom prst="rect">
            <a:avLst/>
          </a:prstGeom>
          <a:noFill/>
          <a:ln/>
        </p:spPr>
        <p:txBody>
          <a:bodyPr wrap="square" lIns="0" tIns="0" rIns="0" bIns="0" rtlCol="0" anchor="ctr"/>
          <a:lstStyle/>
          <a:p>
            <a:pPr indent="0" marL="0">
              <a:buNone/>
            </a:pPr>
            <a:r>
              <a:rPr lang="en-US" sz="3400" b="1" dirty="0">
                <a:solidFill>
                  <a:srgbClr val="16213B"/>
                </a:solidFill>
                <a:latin typeface="Cambria" pitchFamily="34" charset="0"/>
                <a:ea typeface="Cambria" pitchFamily="34" charset="-122"/>
                <a:cs typeface="Cambria" pitchFamily="34" charset="-120"/>
              </a:rPr>
              <a:t>Arquitetura em 5 camadas</a:t>
            </a:r>
            <a:endParaRPr lang="en-US" sz="3400" dirty="0"/>
          </a:p>
        </p:txBody>
      </p:sp>
      <p:pic>
        <p:nvPicPr>
          <p:cNvPr id="4" name="Image 0" descr="/home/claude/tcc_build/fig3_camadas.png">    </p:cNvPr>
          <p:cNvPicPr>
            <a:picLocks noChangeAspect="1"/>
          </p:cNvPicPr>
          <p:nvPr/>
        </p:nvPicPr>
        <p:blipFill>
          <a:blip r:embed="rId1"/>
          <a:srcRect l="0" r="0" t="0" b="0"/>
          <a:stretch/>
        </p:blipFill>
        <p:spPr>
          <a:xfrm>
            <a:off x="3246120" y="1691640"/>
            <a:ext cx="5669280" cy="4480560"/>
          </a:xfrm>
          <a:prstGeom prst="rect">
            <a:avLst/>
          </a:prstGeom>
        </p:spPr>
      </p:pic>
      <p:sp>
        <p:nvSpPr>
          <p:cNvPr id="5" name="Text 2"/>
          <p:cNvSpPr txBox="1"/>
          <p:nvPr/>
        </p:nvSpPr>
        <p:spPr>
          <a:xfrm>
            <a:off x="11475720" y="6446520"/>
            <a:ext cx="457200" cy="320040"/>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365760"/>
          </a:xfrm>
          <a:prstGeom prst="rect">
            <a:avLst/>
          </a:prstGeom>
          <a:noFill/>
          <a:ln/>
        </p:spPr>
        <p:txBody>
          <a:bodyPr wrap="square" lIns="0" tIns="0" rIns="0" bIns="0" rtlCol="0" anchor="ctr"/>
          <a:lstStyle/>
          <a:p>
            <a:pPr indent="0" marL="0">
              <a:buNone/>
            </a:pPr>
            <a:r>
              <a:rPr lang="en-US" sz="1300" b="1" spc="200" kern="0" dirty="0">
                <a:solidFill>
                  <a:srgbClr val="2F6F5E"/>
                </a:solidFill>
                <a:latin typeface="Calibri" pitchFamily="34" charset="0"/>
                <a:ea typeface="Calibri" pitchFamily="34" charset="-122"/>
                <a:cs typeface="Calibri" pitchFamily="34" charset="-120"/>
              </a:rPr>
              <a:t>DEMONSTRAÇÃO</a:t>
            </a:r>
            <a:endParaRPr lang="en-US" sz="1300" dirty="0"/>
          </a:p>
        </p:txBody>
      </p:sp>
      <p:sp>
        <p:nvSpPr>
          <p:cNvPr id="3" name="Text 1"/>
          <p:cNvSpPr txBox="1"/>
          <p:nvPr/>
        </p:nvSpPr>
        <p:spPr>
          <a:xfrm>
            <a:off x="548640" y="749808"/>
            <a:ext cx="11064240" cy="914400"/>
          </a:xfrm>
          <a:prstGeom prst="rect">
            <a:avLst/>
          </a:prstGeom>
          <a:noFill/>
          <a:ln/>
        </p:spPr>
        <p:txBody>
          <a:bodyPr wrap="square" lIns="0" tIns="0" rIns="0" bIns="0" rtlCol="0" anchor="ctr"/>
          <a:lstStyle/>
          <a:p>
            <a:pPr indent="0" marL="0">
              <a:buNone/>
            </a:pPr>
            <a:r>
              <a:rPr lang="en-US" sz="3000" b="1" dirty="0">
                <a:solidFill>
                  <a:srgbClr val="16213B"/>
                </a:solidFill>
                <a:latin typeface="Cambria" pitchFamily="34" charset="0"/>
                <a:ea typeface="Cambria" pitchFamily="34" charset="-122"/>
                <a:cs typeface="Cambria" pitchFamily="34" charset="-120"/>
              </a:rPr>
              <a:t>Envio da planilha</a:t>
            </a:r>
            <a:endParaRPr lang="en-US" sz="3000" dirty="0"/>
          </a:p>
        </p:txBody>
      </p:sp>
      <p:pic>
        <p:nvPicPr>
          <p:cNvPr id="4" name="Image 0" descr="/home/claude/tcc_build/screenshots/print1_upload.png">    </p:cNvPr>
          <p:cNvPicPr>
            <a:picLocks noChangeAspect="1"/>
          </p:cNvPicPr>
          <p:nvPr/>
        </p:nvPicPr>
        <p:blipFill>
          <a:blip r:embed="rId1"/>
          <a:srcRect l="0" r="0" t="0" b="0"/>
          <a:stretch/>
        </p:blipFill>
        <p:spPr>
          <a:xfrm>
            <a:off x="548640" y="1737360"/>
            <a:ext cx="11064240" cy="4572000"/>
          </a:xfrm>
          <a:prstGeom prst="rect">
            <a:avLst/>
          </a:prstGeom>
        </p:spPr>
      </p:pic>
      <p:sp>
        <p:nvSpPr>
          <p:cNvPr id="5" name="Text 2"/>
          <p:cNvSpPr txBox="1"/>
          <p:nvPr/>
        </p:nvSpPr>
        <p:spPr>
          <a:xfrm>
            <a:off x="11475720" y="6446520"/>
            <a:ext cx="457200" cy="320040"/>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365760"/>
          </a:xfrm>
          <a:prstGeom prst="rect">
            <a:avLst/>
          </a:prstGeom>
          <a:noFill/>
          <a:ln/>
        </p:spPr>
        <p:txBody>
          <a:bodyPr wrap="square" lIns="0" tIns="0" rIns="0" bIns="0" rtlCol="0" anchor="ctr"/>
          <a:lstStyle/>
          <a:p>
            <a:pPr indent="0" marL="0">
              <a:buNone/>
            </a:pPr>
            <a:r>
              <a:rPr lang="en-US" sz="1300" b="1" spc="200" kern="0" dirty="0">
                <a:solidFill>
                  <a:srgbClr val="2F6F5E"/>
                </a:solidFill>
                <a:latin typeface="Calibri" pitchFamily="34" charset="0"/>
                <a:ea typeface="Calibri" pitchFamily="34" charset="-122"/>
                <a:cs typeface="Calibri" pitchFamily="34" charset="-120"/>
              </a:rPr>
              <a:t>DEMONSTRAÇÃO</a:t>
            </a:r>
            <a:endParaRPr lang="en-US" sz="1300" dirty="0"/>
          </a:p>
        </p:txBody>
      </p:sp>
      <p:sp>
        <p:nvSpPr>
          <p:cNvPr id="3" name="Text 1"/>
          <p:cNvSpPr txBox="1"/>
          <p:nvPr/>
        </p:nvSpPr>
        <p:spPr>
          <a:xfrm>
            <a:off x="548640" y="749808"/>
            <a:ext cx="11064240" cy="914400"/>
          </a:xfrm>
          <a:prstGeom prst="rect">
            <a:avLst/>
          </a:prstGeom>
          <a:noFill/>
          <a:ln/>
        </p:spPr>
        <p:txBody>
          <a:bodyPr wrap="square" lIns="0" tIns="0" rIns="0" bIns="0" rtlCol="0" anchor="ctr"/>
          <a:lstStyle/>
          <a:p>
            <a:pPr indent="0" marL="0">
              <a:buNone/>
            </a:pPr>
            <a:r>
              <a:rPr lang="en-US" sz="2800" b="1" dirty="0">
                <a:solidFill>
                  <a:srgbClr val="16213B"/>
                </a:solidFill>
                <a:latin typeface="Cambria" pitchFamily="34" charset="0"/>
                <a:ea typeface="Cambria" pitchFamily="34" charset="-122"/>
                <a:cs typeface="Cambria" pitchFamily="34" charset="-120"/>
              </a:rPr>
              <a:t>Dashboard gerado automaticamente</a:t>
            </a:r>
            <a:endParaRPr lang="en-US" sz="2800" dirty="0"/>
          </a:p>
        </p:txBody>
      </p:sp>
      <p:pic>
        <p:nvPicPr>
          <p:cNvPr id="4" name="Image 0" descr="/home/claude/tcc_build/screenshots/print3_visaogeral.png">    </p:cNvPr>
          <p:cNvPicPr>
            <a:picLocks noChangeAspect="1"/>
          </p:cNvPicPr>
          <p:nvPr/>
        </p:nvPicPr>
        <p:blipFill>
          <a:blip r:embed="rId1"/>
          <a:srcRect l="0" r="0" t="0" b="0"/>
          <a:stretch/>
        </p:blipFill>
        <p:spPr>
          <a:xfrm>
            <a:off x="548640" y="1600200"/>
            <a:ext cx="11064240" cy="4709160"/>
          </a:xfrm>
          <a:prstGeom prst="rect">
            <a:avLst/>
          </a:prstGeom>
        </p:spPr>
      </p:pic>
      <p:sp>
        <p:nvSpPr>
          <p:cNvPr id="5" name="Text 2"/>
          <p:cNvSpPr txBox="1"/>
          <p:nvPr/>
        </p:nvSpPr>
        <p:spPr>
          <a:xfrm>
            <a:off x="11475720" y="6446520"/>
            <a:ext cx="457200" cy="320040"/>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365760"/>
          </a:xfrm>
          <a:prstGeom prst="rect">
            <a:avLst/>
          </a:prstGeom>
          <a:noFill/>
          <a:ln/>
        </p:spPr>
        <p:txBody>
          <a:bodyPr wrap="square" lIns="0" tIns="0" rIns="0" bIns="0" rtlCol="0" anchor="ctr"/>
          <a:lstStyle/>
          <a:p>
            <a:pPr indent="0" marL="0">
              <a:buNone/>
            </a:pPr>
            <a:r>
              <a:rPr lang="en-US" sz="1300" b="1" spc="200" kern="0" dirty="0">
                <a:solidFill>
                  <a:srgbClr val="2F6F5E"/>
                </a:solidFill>
                <a:latin typeface="Calibri" pitchFamily="34" charset="0"/>
                <a:ea typeface="Calibri" pitchFamily="34" charset="-122"/>
                <a:cs typeface="Calibri" pitchFamily="34" charset="-120"/>
              </a:rPr>
              <a:t>DEMONSTRAÇÃO</a:t>
            </a:r>
            <a:endParaRPr lang="en-US" sz="1300" dirty="0"/>
          </a:p>
        </p:txBody>
      </p:sp>
      <p:sp>
        <p:nvSpPr>
          <p:cNvPr id="3" name="Text 1"/>
          <p:cNvSpPr txBox="1"/>
          <p:nvPr/>
        </p:nvSpPr>
        <p:spPr>
          <a:xfrm>
            <a:off x="548640" y="749808"/>
            <a:ext cx="11064240" cy="914400"/>
          </a:xfrm>
          <a:prstGeom prst="rect">
            <a:avLst/>
          </a:prstGeom>
          <a:noFill/>
          <a:ln/>
        </p:spPr>
        <p:txBody>
          <a:bodyPr wrap="square" lIns="0" tIns="0" rIns="0" bIns="0" rtlCol="0" anchor="ctr"/>
          <a:lstStyle/>
          <a:p>
            <a:pPr indent="0" marL="0">
              <a:buNone/>
            </a:pPr>
            <a:r>
              <a:rPr lang="en-US" sz="2800" b="1" dirty="0">
                <a:solidFill>
                  <a:srgbClr val="16213B"/>
                </a:solidFill>
                <a:latin typeface="Cambria" pitchFamily="34" charset="0"/>
                <a:ea typeface="Cambria" pitchFamily="34" charset="-122"/>
                <a:cs typeface="Cambria" pitchFamily="34" charset="-120"/>
              </a:rPr>
              <a:t>Previsões e simulação de cenários</a:t>
            </a:r>
            <a:endParaRPr lang="en-US" sz="2800" dirty="0"/>
          </a:p>
        </p:txBody>
      </p:sp>
      <p:pic>
        <p:nvPicPr>
          <p:cNvPr id="4" name="Image 0" descr="/home/claude/tcc_build/screenshots/print4_previsoes.png">    </p:cNvPr>
          <p:cNvPicPr>
            <a:picLocks noChangeAspect="1"/>
          </p:cNvPicPr>
          <p:nvPr/>
        </p:nvPicPr>
        <p:blipFill>
          <a:blip r:embed="rId1"/>
          <a:srcRect l="0" r="0" t="0" b="0"/>
          <a:stretch/>
        </p:blipFill>
        <p:spPr>
          <a:xfrm>
            <a:off x="548640" y="1600200"/>
            <a:ext cx="11064240" cy="4709160"/>
          </a:xfrm>
          <a:prstGeom prst="rect">
            <a:avLst/>
          </a:prstGeom>
        </p:spPr>
      </p:pic>
      <p:sp>
        <p:nvSpPr>
          <p:cNvPr id="5" name="Text 2"/>
          <p:cNvSpPr txBox="1"/>
          <p:nvPr/>
        </p:nvSpPr>
        <p:spPr>
          <a:xfrm>
            <a:off x="11475720" y="6446520"/>
            <a:ext cx="457200" cy="320040"/>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365760"/>
          </a:xfrm>
          <a:prstGeom prst="rect">
            <a:avLst/>
          </a:prstGeom>
          <a:noFill/>
          <a:ln/>
        </p:spPr>
        <p:txBody>
          <a:bodyPr wrap="square" lIns="0" tIns="0" rIns="0" bIns="0" rtlCol="0" anchor="ctr"/>
          <a:lstStyle/>
          <a:p>
            <a:pPr indent="0" marL="0">
              <a:buNone/>
            </a:pPr>
            <a:r>
              <a:rPr lang="en-US" sz="1300" b="1" spc="200" kern="0" dirty="0">
                <a:solidFill>
                  <a:srgbClr val="2F6F5E"/>
                </a:solidFill>
                <a:latin typeface="Calibri" pitchFamily="34" charset="0"/>
                <a:ea typeface="Calibri" pitchFamily="34" charset="-122"/>
                <a:cs typeface="Calibri" pitchFamily="34" charset="-120"/>
              </a:rPr>
              <a:t>DEMONSTRAÇÃO</a:t>
            </a:r>
            <a:endParaRPr lang="en-US" sz="1300" dirty="0"/>
          </a:p>
        </p:txBody>
      </p:sp>
      <p:sp>
        <p:nvSpPr>
          <p:cNvPr id="3" name="Text 1"/>
          <p:cNvSpPr txBox="1"/>
          <p:nvPr/>
        </p:nvSpPr>
        <p:spPr>
          <a:xfrm>
            <a:off x="548640" y="749808"/>
            <a:ext cx="11064240" cy="914400"/>
          </a:xfrm>
          <a:prstGeom prst="rect">
            <a:avLst/>
          </a:prstGeom>
          <a:noFill/>
          <a:ln/>
        </p:spPr>
        <p:txBody>
          <a:bodyPr wrap="square" lIns="0" tIns="0" rIns="0" bIns="0" rtlCol="0" anchor="ctr"/>
          <a:lstStyle/>
          <a:p>
            <a:pPr indent="0" marL="0">
              <a:buNone/>
            </a:pPr>
            <a:r>
              <a:rPr lang="en-US" sz="3000" b="1" dirty="0">
                <a:solidFill>
                  <a:srgbClr val="16213B"/>
                </a:solidFill>
                <a:latin typeface="Cambria" pitchFamily="34" charset="0"/>
                <a:ea typeface="Cambria" pitchFamily="34" charset="-122"/>
                <a:cs typeface="Cambria" pitchFamily="34" charset="-120"/>
              </a:rPr>
              <a:t>Chat com a base de dados</a:t>
            </a:r>
            <a:endParaRPr lang="en-US" sz="3000" dirty="0"/>
          </a:p>
        </p:txBody>
      </p:sp>
      <p:pic>
        <p:nvPicPr>
          <p:cNvPr id="4" name="Image 0" descr="/home/claude/tcc_build/screenshots/print5_chat.png">    </p:cNvPr>
          <p:cNvPicPr>
            <a:picLocks noChangeAspect="1"/>
          </p:cNvPicPr>
          <p:nvPr/>
        </p:nvPicPr>
        <p:blipFill>
          <a:blip r:embed="rId1"/>
          <a:srcRect l="0" r="0" t="0" b="0"/>
          <a:stretch/>
        </p:blipFill>
        <p:spPr>
          <a:xfrm>
            <a:off x="822960" y="1737360"/>
            <a:ext cx="10515600" cy="4480560"/>
          </a:xfrm>
          <a:prstGeom prst="rect">
            <a:avLst/>
          </a:prstGeom>
        </p:spPr>
      </p:pic>
      <p:sp>
        <p:nvSpPr>
          <p:cNvPr id="5" name="Text 2"/>
          <p:cNvSpPr txBox="1"/>
          <p:nvPr/>
        </p:nvSpPr>
        <p:spPr>
          <a:xfrm>
            <a:off x="11475720" y="6446520"/>
            <a:ext cx="457200" cy="320040"/>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365760"/>
          </a:xfrm>
          <a:prstGeom prst="rect">
            <a:avLst/>
          </a:prstGeom>
          <a:noFill/>
          <a:ln/>
        </p:spPr>
        <p:txBody>
          <a:bodyPr wrap="square" lIns="0" tIns="0" rIns="0" bIns="0" rtlCol="0" anchor="ctr"/>
          <a:lstStyle/>
          <a:p>
            <a:pPr indent="0" marL="0">
              <a:buNone/>
            </a:pPr>
            <a:r>
              <a:rPr lang="en-US" sz="1300" b="1" spc="200" kern="0" dirty="0">
                <a:solidFill>
                  <a:srgbClr val="2F6F5E"/>
                </a:solidFill>
                <a:latin typeface="Calibri" pitchFamily="34" charset="0"/>
                <a:ea typeface="Calibri" pitchFamily="34" charset="-122"/>
                <a:cs typeface="Calibri" pitchFamily="34" charset="-120"/>
              </a:rPr>
              <a:t>AVALIAÇÃO</a:t>
            </a:r>
            <a:endParaRPr lang="en-US" sz="1300" dirty="0"/>
          </a:p>
        </p:txBody>
      </p:sp>
      <p:sp>
        <p:nvSpPr>
          <p:cNvPr id="3" name="Text 1"/>
          <p:cNvSpPr txBox="1"/>
          <p:nvPr/>
        </p:nvSpPr>
        <p:spPr>
          <a:xfrm>
            <a:off x="548640" y="749808"/>
            <a:ext cx="11064240" cy="914400"/>
          </a:xfrm>
          <a:prstGeom prst="rect">
            <a:avLst/>
          </a:prstGeom>
          <a:noFill/>
          <a:ln/>
        </p:spPr>
        <p:txBody>
          <a:bodyPr wrap="square" lIns="0" tIns="0" rIns="0" bIns="0" rtlCol="0" anchor="ctr"/>
          <a:lstStyle/>
          <a:p>
            <a:pPr indent="0" marL="0">
              <a:buNone/>
            </a:pPr>
            <a:r>
              <a:rPr lang="en-US" sz="3400" b="1" dirty="0">
                <a:solidFill>
                  <a:srgbClr val="16213B"/>
                </a:solidFill>
                <a:latin typeface="Cambria" pitchFamily="34" charset="0"/>
                <a:ea typeface="Cambria" pitchFamily="34" charset="-122"/>
                <a:cs typeface="Cambria" pitchFamily="34" charset="-120"/>
              </a:rPr>
              <a:t>Como medimos a precisão da IA</a:t>
            </a:r>
            <a:endParaRPr lang="en-US" sz="3400" dirty="0"/>
          </a:p>
        </p:txBody>
      </p:sp>
      <p:sp>
        <p:nvSpPr>
          <p:cNvPr id="4" name="Text 2"/>
          <p:cNvSpPr txBox="1"/>
          <p:nvPr/>
        </p:nvSpPr>
        <p:spPr>
          <a:xfrm>
            <a:off x="548640" y="2286000"/>
            <a:ext cx="6675120" cy="3474720"/>
          </a:xfrm>
          <a:prstGeom prst="rect">
            <a:avLst/>
          </a:prstGeom>
          <a:noFill/>
          <a:ln/>
        </p:spPr>
        <p:txBody>
          <a:bodyPr wrap="square" lIns="0" tIns="0" rIns="0" bIns="0" rtlCol="0" anchor="ctr"/>
          <a:lstStyle/>
          <a:p>
            <a:pPr marL="342900" indent="-342900">
              <a:lnSpc>
                <a:spcPct val="125000"/>
              </a:lnSpc>
              <a:spcAft>
                <a:spcPts val="1600"/>
              </a:spcAft>
              <a:buSzPct val="100000"/>
              <a:buChar char="•"/>
            </a:pPr>
            <a:r>
              <a:rPr lang="en-US" sz="1800" dirty="0">
                <a:solidFill>
                  <a:srgbClr val="1A1A1A"/>
                </a:solidFill>
                <a:latin typeface="Calibri" pitchFamily="34" charset="0"/>
                <a:ea typeface="Calibri" pitchFamily="34" charset="-122"/>
                <a:cs typeface="Calibri" pitchFamily="34" charset="-120"/>
              </a:rPr>
              <a:t>7 bases sintéticas, com nomenclatura de coluna deliberadamente diferente do desenvolvimento</a:t>
            </a:r>
            <a:endParaRPr lang="en-US" sz="1800" dirty="0"/>
          </a:p>
          <a:p>
            <a:pPr marL="342900" indent="-342900">
              <a:lnSpc>
                <a:spcPct val="125000"/>
              </a:lnSpc>
              <a:spcAft>
                <a:spcPts val="1600"/>
              </a:spcAft>
              <a:buSzPct val="100000"/>
              <a:buChar char="•"/>
            </a:pPr>
            <a:r>
              <a:rPr lang="en-US" sz="1800" dirty="0">
                <a:solidFill>
                  <a:srgbClr val="1A1A1A"/>
                </a:solidFill>
                <a:latin typeface="Calibri" pitchFamily="34" charset="0"/>
                <a:ea typeface="Calibri" pitchFamily="34" charset="-122"/>
                <a:cs typeface="Calibri" pitchFamily="34" charset="-120"/>
              </a:rPr>
              <a:t>Gabarito definido manualmente para cada base (papel correto, mapeamento correto)</a:t>
            </a:r>
            <a:endParaRPr lang="en-US" sz="1800" dirty="0"/>
          </a:p>
          <a:p>
            <a:pPr marL="342900" indent="-342900">
              <a:lnSpc>
                <a:spcPct val="125000"/>
              </a:lnSpc>
              <a:buSzPct val="100000"/>
              <a:buChar char="•"/>
            </a:pPr>
            <a:r>
              <a:rPr lang="en-US" sz="1800" dirty="0">
                <a:solidFill>
                  <a:srgbClr val="1A1A1A"/>
                </a:solidFill>
                <a:latin typeface="Calibri" pitchFamily="34" charset="0"/>
                <a:ea typeface="Calibri" pitchFamily="34" charset="-122"/>
                <a:cs typeface="Calibri" pitchFamily="34" charset="-120"/>
              </a:rPr>
              <a:t>Chamadas reais à API, comparadas ao gabarito, em 5 métricas objetivas</a:t>
            </a:r>
            <a:endParaRPr lang="en-US" sz="1800" dirty="0"/>
          </a:p>
        </p:txBody>
      </p:sp>
      <p:sp>
        <p:nvSpPr>
          <p:cNvPr id="5" name="Shape 3"/>
          <p:cNvSpPr/>
          <p:nvPr/>
        </p:nvSpPr>
        <p:spPr>
          <a:xfrm>
            <a:off x="7589520" y="2331720"/>
            <a:ext cx="4023360" cy="3429000"/>
          </a:xfrm>
          <a:prstGeom prst="roundRect">
            <a:avLst>
              <a:gd name="adj" fmla="val 3200"/>
            </a:avLst>
          </a:prstGeom>
          <a:solidFill>
            <a:srgbClr val="1F4B3F"/>
          </a:solidFill>
          <a:ln/>
        </p:spPr>
      </p:sp>
      <p:sp>
        <p:nvSpPr>
          <p:cNvPr id="6" name="Text 4"/>
          <p:cNvSpPr txBox="1"/>
          <p:nvPr/>
        </p:nvSpPr>
        <p:spPr>
          <a:xfrm>
            <a:off x="7863840" y="2560320"/>
            <a:ext cx="3474720" cy="365760"/>
          </a:xfrm>
          <a:prstGeom prst="rect">
            <a:avLst/>
          </a:prstGeom>
          <a:noFill/>
          <a:ln/>
        </p:spPr>
        <p:txBody>
          <a:bodyPr wrap="square" lIns="0" tIns="0" rIns="0" bIns="0" rtlCol="0" anchor="ctr"/>
          <a:lstStyle/>
          <a:p>
            <a:pPr indent="0" marL="0">
              <a:buNone/>
            </a:pPr>
            <a:r>
              <a:rPr lang="en-US" sz="1300" b="1" dirty="0">
                <a:solidFill>
                  <a:srgbClr val="C9E3D6"/>
                </a:solidFill>
                <a:latin typeface="Calibri" pitchFamily="34" charset="0"/>
                <a:ea typeface="Calibri" pitchFamily="34" charset="-122"/>
                <a:cs typeface="Calibri" pitchFamily="34" charset="-120"/>
              </a:rPr>
              <a:t>Objetivo do desenho</a:t>
            </a:r>
            <a:endParaRPr lang="en-US" sz="1300" dirty="0"/>
          </a:p>
        </p:txBody>
      </p:sp>
      <p:sp>
        <p:nvSpPr>
          <p:cNvPr id="7" name="Text 5"/>
          <p:cNvSpPr txBox="1"/>
          <p:nvPr/>
        </p:nvSpPr>
        <p:spPr>
          <a:xfrm>
            <a:off x="7863840" y="3017520"/>
            <a:ext cx="3474720" cy="2468880"/>
          </a:xfrm>
          <a:prstGeom prst="rect">
            <a:avLst/>
          </a:prstGeom>
          <a:noFill/>
          <a:ln/>
        </p:spPr>
        <p:txBody>
          <a:bodyPr wrap="square" lIns="0" tIns="0" rIns="0" bIns="0" rtlCol="0" anchor="ctr"/>
          <a:lstStyle/>
          <a:p>
            <a:pPr indent="0" marL="0">
              <a:lnSpc>
                <a:spcPct val="130000"/>
              </a:lnSpc>
              <a:buNone/>
            </a:pPr>
            <a:r>
              <a:rPr lang="en-US" sz="1600" i="1" dirty="0">
                <a:solidFill>
                  <a:srgbClr val="FFFFFF"/>
                </a:solidFill>
                <a:latin typeface="Cambria" pitchFamily="34" charset="0"/>
                <a:ea typeface="Cambria" pitchFamily="34" charset="-122"/>
                <a:cs typeface="Cambria" pitchFamily="34" charset="-120"/>
              </a:rPr>
              <a:t>Medir generalização, não memorização — a IA nunca viu esses nomes de coluna durante o desenvolvimento.</a:t>
            </a:r>
            <a:endParaRPr lang="en-US" sz="1600" dirty="0"/>
          </a:p>
        </p:txBody>
      </p:sp>
      <p:sp>
        <p:nvSpPr>
          <p:cNvPr id="8" name="Text 6"/>
          <p:cNvSpPr txBox="1"/>
          <p:nvPr/>
        </p:nvSpPr>
        <p:spPr>
          <a:xfrm>
            <a:off x="11475720" y="6446520"/>
            <a:ext cx="457200" cy="320040"/>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4B3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365760"/>
          </a:xfrm>
          <a:prstGeom prst="rect">
            <a:avLst/>
          </a:prstGeom>
          <a:noFill/>
          <a:ln/>
        </p:spPr>
        <p:txBody>
          <a:bodyPr wrap="square" lIns="0" tIns="0" rIns="0" bIns="0" rtlCol="0" anchor="ctr"/>
          <a:lstStyle/>
          <a:p>
            <a:pPr indent="0" marL="0">
              <a:buNone/>
            </a:pPr>
            <a:r>
              <a:rPr lang="en-US" sz="1300" b="1" spc="200" kern="0" dirty="0">
                <a:solidFill>
                  <a:srgbClr val="C9E3D6"/>
                </a:solidFill>
                <a:latin typeface="Calibri" pitchFamily="34" charset="0"/>
                <a:ea typeface="Calibri" pitchFamily="34" charset="-122"/>
                <a:cs typeface="Calibri" pitchFamily="34" charset="-120"/>
              </a:rPr>
              <a:t>RESULTADOS</a:t>
            </a:r>
            <a:endParaRPr lang="en-US" sz="1300" dirty="0"/>
          </a:p>
        </p:txBody>
      </p:sp>
      <p:sp>
        <p:nvSpPr>
          <p:cNvPr id="3" name="Text 1"/>
          <p:cNvSpPr txBox="1"/>
          <p:nvPr/>
        </p:nvSpPr>
        <p:spPr>
          <a:xfrm>
            <a:off x="548640" y="749808"/>
            <a:ext cx="1106424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100% nas 5 métricas avaliadas</a:t>
            </a:r>
            <a:endParaRPr lang="en-US" sz="3400" dirty="0"/>
          </a:p>
        </p:txBody>
      </p:sp>
      <p:sp>
        <p:nvSpPr>
          <p:cNvPr id="4" name="Shape 2"/>
          <p:cNvSpPr/>
          <p:nvPr/>
        </p:nvSpPr>
        <p:spPr>
          <a:xfrm>
            <a:off x="548640" y="2286000"/>
            <a:ext cx="2084832" cy="2468880"/>
          </a:xfrm>
          <a:prstGeom prst="roundRect">
            <a:avLst>
              <a:gd name="adj" fmla="val 4386"/>
            </a:avLst>
          </a:prstGeom>
          <a:solidFill>
            <a:srgbClr val="1A5546"/>
          </a:solidFill>
          <a:ln/>
        </p:spPr>
      </p:sp>
      <p:sp>
        <p:nvSpPr>
          <p:cNvPr id="5" name="Text 3"/>
          <p:cNvSpPr txBox="1"/>
          <p:nvPr/>
        </p:nvSpPr>
        <p:spPr>
          <a:xfrm>
            <a:off x="548640" y="2606040"/>
            <a:ext cx="2084832" cy="914400"/>
          </a:xfrm>
          <a:prstGeom prst="rect">
            <a:avLst/>
          </a:prstGeom>
          <a:noFill/>
          <a:ln/>
        </p:spPr>
        <p:txBody>
          <a:bodyPr wrap="square" lIns="0" tIns="0" rIns="0" bIns="0" rtlCol="0" anchor="ctr"/>
          <a:lstStyle/>
          <a:p>
            <a:pPr algn="ctr" indent="0" marL="0">
              <a:buNone/>
            </a:pPr>
            <a:r>
              <a:rPr lang="en-US" sz="3400" b="1" dirty="0">
                <a:solidFill>
                  <a:srgbClr val="C6852F"/>
                </a:solidFill>
                <a:latin typeface="Cambria" pitchFamily="34" charset="0"/>
                <a:ea typeface="Cambria" pitchFamily="34" charset="-122"/>
                <a:cs typeface="Cambria" pitchFamily="34" charset="-120"/>
              </a:rPr>
              <a:t>100%</a:t>
            </a:r>
            <a:endParaRPr lang="en-US" sz="3400" dirty="0"/>
          </a:p>
        </p:txBody>
      </p:sp>
      <p:sp>
        <p:nvSpPr>
          <p:cNvPr id="6" name="Text 4"/>
          <p:cNvSpPr txBox="1"/>
          <p:nvPr/>
        </p:nvSpPr>
        <p:spPr>
          <a:xfrm>
            <a:off x="685800" y="3749040"/>
            <a:ext cx="1810512" cy="822960"/>
          </a:xfrm>
          <a:prstGeom prst="rect">
            <a:avLst/>
          </a:prstGeom>
          <a:noFill/>
          <a:ln/>
        </p:spPr>
        <p:txBody>
          <a:bodyPr wrap="square" lIns="0" tIns="0" rIns="0" bIns="0" rtlCol="0" anchor="ctr"/>
          <a:lstStyle/>
          <a:p>
            <a:pPr algn="ctr" indent="0" marL="0">
              <a:lnSpc>
                <a:spcPct val="115000"/>
              </a:lnSpc>
              <a:buNone/>
            </a:pPr>
            <a:r>
              <a:rPr lang="en-US" sz="1250" dirty="0">
                <a:solidFill>
                  <a:srgbClr val="FFFFFF"/>
                </a:solidFill>
                <a:latin typeface="Calibri" pitchFamily="34" charset="0"/>
                <a:ea typeface="Calibri" pitchFamily="34" charset="-122"/>
                <a:cs typeface="Calibri" pitchFamily="34" charset="-120"/>
              </a:rPr>
              <a:t>Base é dado de RH?</a:t>
            </a:r>
            <a:endParaRPr lang="en-US" sz="1250" dirty="0"/>
          </a:p>
        </p:txBody>
      </p:sp>
      <p:sp>
        <p:nvSpPr>
          <p:cNvPr id="7" name="Shape 5"/>
          <p:cNvSpPr/>
          <p:nvPr/>
        </p:nvSpPr>
        <p:spPr>
          <a:xfrm>
            <a:off x="2798064" y="2286000"/>
            <a:ext cx="2084832" cy="2468880"/>
          </a:xfrm>
          <a:prstGeom prst="roundRect">
            <a:avLst>
              <a:gd name="adj" fmla="val 4386"/>
            </a:avLst>
          </a:prstGeom>
          <a:solidFill>
            <a:srgbClr val="1A5546"/>
          </a:solidFill>
          <a:ln/>
        </p:spPr>
      </p:sp>
      <p:sp>
        <p:nvSpPr>
          <p:cNvPr id="8" name="Text 6"/>
          <p:cNvSpPr txBox="1"/>
          <p:nvPr/>
        </p:nvSpPr>
        <p:spPr>
          <a:xfrm>
            <a:off x="2798064" y="2606040"/>
            <a:ext cx="2084832" cy="914400"/>
          </a:xfrm>
          <a:prstGeom prst="rect">
            <a:avLst/>
          </a:prstGeom>
          <a:noFill/>
          <a:ln/>
        </p:spPr>
        <p:txBody>
          <a:bodyPr wrap="square" lIns="0" tIns="0" rIns="0" bIns="0" rtlCol="0" anchor="ctr"/>
          <a:lstStyle/>
          <a:p>
            <a:pPr algn="ctr" indent="0" marL="0">
              <a:buNone/>
            </a:pPr>
            <a:r>
              <a:rPr lang="en-US" sz="3400" b="1" dirty="0">
                <a:solidFill>
                  <a:srgbClr val="C6852F"/>
                </a:solidFill>
                <a:latin typeface="Cambria" pitchFamily="34" charset="0"/>
                <a:ea typeface="Cambria" pitchFamily="34" charset="-122"/>
                <a:cs typeface="Cambria" pitchFamily="34" charset="-120"/>
              </a:rPr>
              <a:t>100%</a:t>
            </a:r>
            <a:endParaRPr lang="en-US" sz="3400" dirty="0"/>
          </a:p>
        </p:txBody>
      </p:sp>
      <p:sp>
        <p:nvSpPr>
          <p:cNvPr id="9" name="Text 7"/>
          <p:cNvSpPr txBox="1"/>
          <p:nvPr/>
        </p:nvSpPr>
        <p:spPr>
          <a:xfrm>
            <a:off x="2935224" y="3749040"/>
            <a:ext cx="1810512" cy="822960"/>
          </a:xfrm>
          <a:prstGeom prst="rect">
            <a:avLst/>
          </a:prstGeom>
          <a:noFill/>
          <a:ln/>
        </p:spPr>
        <p:txBody>
          <a:bodyPr wrap="square" lIns="0" tIns="0" rIns="0" bIns="0" rtlCol="0" anchor="ctr"/>
          <a:lstStyle/>
          <a:p>
            <a:pPr algn="ctr" indent="0" marL="0">
              <a:lnSpc>
                <a:spcPct val="115000"/>
              </a:lnSpc>
              <a:buNone/>
            </a:pPr>
            <a:r>
              <a:rPr lang="en-US" sz="1250" dirty="0">
                <a:solidFill>
                  <a:srgbClr val="FFFFFF"/>
                </a:solidFill>
                <a:latin typeface="Calibri" pitchFamily="34" charset="0"/>
                <a:ea typeface="Calibri" pitchFamily="34" charset="-122"/>
                <a:cs typeface="Calibri" pitchFamily="34" charset="-120"/>
              </a:rPr>
              <a:t>Papel de cada aba</a:t>
            </a:r>
            <a:endParaRPr lang="en-US" sz="1250" dirty="0"/>
          </a:p>
        </p:txBody>
      </p:sp>
      <p:sp>
        <p:nvSpPr>
          <p:cNvPr id="10" name="Shape 8"/>
          <p:cNvSpPr/>
          <p:nvPr/>
        </p:nvSpPr>
        <p:spPr>
          <a:xfrm>
            <a:off x="5047488" y="2286000"/>
            <a:ext cx="2084832" cy="2468880"/>
          </a:xfrm>
          <a:prstGeom prst="roundRect">
            <a:avLst>
              <a:gd name="adj" fmla="val 4386"/>
            </a:avLst>
          </a:prstGeom>
          <a:solidFill>
            <a:srgbClr val="1A5546"/>
          </a:solidFill>
          <a:ln/>
        </p:spPr>
      </p:sp>
      <p:sp>
        <p:nvSpPr>
          <p:cNvPr id="11" name="Text 9"/>
          <p:cNvSpPr txBox="1"/>
          <p:nvPr/>
        </p:nvSpPr>
        <p:spPr>
          <a:xfrm>
            <a:off x="5047488" y="2606040"/>
            <a:ext cx="2084832" cy="914400"/>
          </a:xfrm>
          <a:prstGeom prst="rect">
            <a:avLst/>
          </a:prstGeom>
          <a:noFill/>
          <a:ln/>
        </p:spPr>
        <p:txBody>
          <a:bodyPr wrap="square" lIns="0" tIns="0" rIns="0" bIns="0" rtlCol="0" anchor="ctr"/>
          <a:lstStyle/>
          <a:p>
            <a:pPr algn="ctr" indent="0" marL="0">
              <a:buNone/>
            </a:pPr>
            <a:r>
              <a:rPr lang="en-US" sz="3400" b="1" dirty="0">
                <a:solidFill>
                  <a:srgbClr val="C6852F"/>
                </a:solidFill>
                <a:latin typeface="Cambria" pitchFamily="34" charset="0"/>
                <a:ea typeface="Cambria" pitchFamily="34" charset="-122"/>
                <a:cs typeface="Cambria" pitchFamily="34" charset="-120"/>
              </a:rPr>
              <a:t>100%</a:t>
            </a:r>
            <a:endParaRPr lang="en-US" sz="3400" dirty="0"/>
          </a:p>
        </p:txBody>
      </p:sp>
      <p:sp>
        <p:nvSpPr>
          <p:cNvPr id="12" name="Text 10"/>
          <p:cNvSpPr txBox="1"/>
          <p:nvPr/>
        </p:nvSpPr>
        <p:spPr>
          <a:xfrm>
            <a:off x="5184648" y="3749040"/>
            <a:ext cx="1810512" cy="822960"/>
          </a:xfrm>
          <a:prstGeom prst="rect">
            <a:avLst/>
          </a:prstGeom>
          <a:noFill/>
          <a:ln/>
        </p:spPr>
        <p:txBody>
          <a:bodyPr wrap="square" lIns="0" tIns="0" rIns="0" bIns="0" rtlCol="0" anchor="ctr"/>
          <a:lstStyle/>
          <a:p>
            <a:pPr algn="ctr" indent="0" marL="0">
              <a:lnSpc>
                <a:spcPct val="115000"/>
              </a:lnSpc>
              <a:buNone/>
            </a:pPr>
            <a:r>
              <a:rPr lang="en-US" sz="1250" dirty="0">
                <a:solidFill>
                  <a:srgbClr val="FFFFFF"/>
                </a:solidFill>
                <a:latin typeface="Calibri" pitchFamily="34" charset="0"/>
                <a:ea typeface="Calibri" pitchFamily="34" charset="-122"/>
                <a:cs typeface="Calibri" pitchFamily="34" charset="-120"/>
              </a:rPr>
              <a:t>Cobertura de colunas</a:t>
            </a:r>
            <a:endParaRPr lang="en-US" sz="1250" dirty="0"/>
          </a:p>
        </p:txBody>
      </p:sp>
      <p:sp>
        <p:nvSpPr>
          <p:cNvPr id="13" name="Shape 11"/>
          <p:cNvSpPr/>
          <p:nvPr/>
        </p:nvSpPr>
        <p:spPr>
          <a:xfrm>
            <a:off x="7296912" y="2286000"/>
            <a:ext cx="2084832" cy="2468880"/>
          </a:xfrm>
          <a:prstGeom prst="roundRect">
            <a:avLst>
              <a:gd name="adj" fmla="val 4386"/>
            </a:avLst>
          </a:prstGeom>
          <a:solidFill>
            <a:srgbClr val="1A5546"/>
          </a:solidFill>
          <a:ln/>
        </p:spPr>
      </p:sp>
      <p:sp>
        <p:nvSpPr>
          <p:cNvPr id="14" name="Text 12"/>
          <p:cNvSpPr txBox="1"/>
          <p:nvPr/>
        </p:nvSpPr>
        <p:spPr>
          <a:xfrm>
            <a:off x="7296912" y="2606040"/>
            <a:ext cx="2084832" cy="914400"/>
          </a:xfrm>
          <a:prstGeom prst="rect">
            <a:avLst/>
          </a:prstGeom>
          <a:noFill/>
          <a:ln/>
        </p:spPr>
        <p:txBody>
          <a:bodyPr wrap="square" lIns="0" tIns="0" rIns="0" bIns="0" rtlCol="0" anchor="ctr"/>
          <a:lstStyle/>
          <a:p>
            <a:pPr algn="ctr" indent="0" marL="0">
              <a:buNone/>
            </a:pPr>
            <a:r>
              <a:rPr lang="en-US" sz="3400" b="1" dirty="0">
                <a:solidFill>
                  <a:srgbClr val="C6852F"/>
                </a:solidFill>
                <a:latin typeface="Cambria" pitchFamily="34" charset="0"/>
                <a:ea typeface="Cambria" pitchFamily="34" charset="-122"/>
                <a:cs typeface="Cambria" pitchFamily="34" charset="-120"/>
              </a:rPr>
              <a:t>100%</a:t>
            </a:r>
            <a:endParaRPr lang="en-US" sz="3400" dirty="0"/>
          </a:p>
        </p:txBody>
      </p:sp>
      <p:sp>
        <p:nvSpPr>
          <p:cNvPr id="15" name="Text 13"/>
          <p:cNvSpPr txBox="1"/>
          <p:nvPr/>
        </p:nvSpPr>
        <p:spPr>
          <a:xfrm>
            <a:off x="7434072" y="3749040"/>
            <a:ext cx="1810512" cy="822960"/>
          </a:xfrm>
          <a:prstGeom prst="rect">
            <a:avLst/>
          </a:prstGeom>
          <a:noFill/>
          <a:ln/>
        </p:spPr>
        <p:txBody>
          <a:bodyPr wrap="square" lIns="0" tIns="0" rIns="0" bIns="0" rtlCol="0" anchor="ctr"/>
          <a:lstStyle/>
          <a:p>
            <a:pPr algn="ctr" indent="0" marL="0">
              <a:lnSpc>
                <a:spcPct val="115000"/>
              </a:lnSpc>
              <a:buNone/>
            </a:pPr>
            <a:r>
              <a:rPr lang="en-US" sz="1250" dirty="0">
                <a:solidFill>
                  <a:srgbClr val="FFFFFF"/>
                </a:solidFill>
                <a:latin typeface="Calibri" pitchFamily="34" charset="0"/>
                <a:ea typeface="Calibri" pitchFamily="34" charset="-122"/>
                <a:cs typeface="Calibri" pitchFamily="34" charset="-120"/>
              </a:rPr>
              <a:t>Precisão de colunas</a:t>
            </a:r>
            <a:endParaRPr lang="en-US" sz="1250" dirty="0"/>
          </a:p>
        </p:txBody>
      </p:sp>
      <p:sp>
        <p:nvSpPr>
          <p:cNvPr id="16" name="Shape 14"/>
          <p:cNvSpPr/>
          <p:nvPr/>
        </p:nvSpPr>
        <p:spPr>
          <a:xfrm>
            <a:off x="9546336" y="2286000"/>
            <a:ext cx="2084832" cy="2468880"/>
          </a:xfrm>
          <a:prstGeom prst="roundRect">
            <a:avLst>
              <a:gd name="adj" fmla="val 4386"/>
            </a:avLst>
          </a:prstGeom>
          <a:solidFill>
            <a:srgbClr val="1A5546"/>
          </a:solidFill>
          <a:ln/>
        </p:spPr>
      </p:sp>
      <p:sp>
        <p:nvSpPr>
          <p:cNvPr id="17" name="Text 15"/>
          <p:cNvSpPr txBox="1"/>
          <p:nvPr/>
        </p:nvSpPr>
        <p:spPr>
          <a:xfrm>
            <a:off x="9546336" y="2606040"/>
            <a:ext cx="2084832" cy="914400"/>
          </a:xfrm>
          <a:prstGeom prst="rect">
            <a:avLst/>
          </a:prstGeom>
          <a:noFill/>
          <a:ln/>
        </p:spPr>
        <p:txBody>
          <a:bodyPr wrap="square" lIns="0" tIns="0" rIns="0" bIns="0" rtlCol="0" anchor="ctr"/>
          <a:lstStyle/>
          <a:p>
            <a:pPr algn="ctr" indent="0" marL="0">
              <a:buNone/>
            </a:pPr>
            <a:r>
              <a:rPr lang="en-US" sz="3400" b="1" dirty="0">
                <a:solidFill>
                  <a:srgbClr val="C6852F"/>
                </a:solidFill>
                <a:latin typeface="Cambria" pitchFamily="34" charset="0"/>
                <a:ea typeface="Cambria" pitchFamily="34" charset="-122"/>
                <a:cs typeface="Cambria" pitchFamily="34" charset="-120"/>
              </a:rPr>
              <a:t>100%</a:t>
            </a:r>
            <a:endParaRPr lang="en-US" sz="3400" dirty="0"/>
          </a:p>
        </p:txBody>
      </p:sp>
      <p:sp>
        <p:nvSpPr>
          <p:cNvPr id="18" name="Text 16"/>
          <p:cNvSpPr txBox="1"/>
          <p:nvPr/>
        </p:nvSpPr>
        <p:spPr>
          <a:xfrm>
            <a:off x="9683496" y="3749040"/>
            <a:ext cx="1810512" cy="822960"/>
          </a:xfrm>
          <a:prstGeom prst="rect">
            <a:avLst/>
          </a:prstGeom>
          <a:noFill/>
          <a:ln/>
        </p:spPr>
        <p:txBody>
          <a:bodyPr wrap="square" lIns="0" tIns="0" rIns="0" bIns="0" rtlCol="0" anchor="ctr"/>
          <a:lstStyle/>
          <a:p>
            <a:pPr algn="ctr" indent="0" marL="0">
              <a:lnSpc>
                <a:spcPct val="115000"/>
              </a:lnSpc>
              <a:buNone/>
            </a:pPr>
            <a:r>
              <a:rPr lang="en-US" sz="1250" dirty="0">
                <a:solidFill>
                  <a:srgbClr val="FFFFFF"/>
                </a:solidFill>
                <a:latin typeface="Calibri" pitchFamily="34" charset="0"/>
                <a:ea typeface="Calibri" pitchFamily="34" charset="-122"/>
                <a:cs typeface="Calibri" pitchFamily="34" charset="-120"/>
              </a:rPr>
              <a:t>Validade dos gráficos</a:t>
            </a:r>
            <a:endParaRPr lang="en-US" sz="1250" dirty="0"/>
          </a:p>
        </p:txBody>
      </p:sp>
      <p:sp>
        <p:nvSpPr>
          <p:cNvPr id="19" name="Text 17"/>
          <p:cNvSpPr txBox="1"/>
          <p:nvPr/>
        </p:nvSpPr>
        <p:spPr>
          <a:xfrm>
            <a:off x="548640" y="5074920"/>
            <a:ext cx="11064240" cy="731520"/>
          </a:xfrm>
          <a:prstGeom prst="rect">
            <a:avLst/>
          </a:prstGeom>
          <a:noFill/>
          <a:ln/>
        </p:spPr>
        <p:txBody>
          <a:bodyPr wrap="square" lIns="0" tIns="0" rIns="0" bIns="0" rtlCol="0" anchor="ctr"/>
          <a:lstStyle/>
          <a:p>
            <a:pPr indent="0" marL="0">
              <a:lnSpc>
                <a:spcPct val="120000"/>
              </a:lnSpc>
              <a:buNone/>
            </a:pPr>
            <a:r>
              <a:rPr lang="en-US" sz="1350" i="1" dirty="0">
                <a:solidFill>
                  <a:srgbClr val="C9E3D6"/>
                </a:solidFill>
                <a:latin typeface="Calibri" pitchFamily="34" charset="0"/>
                <a:ea typeface="Calibri" pitchFamily="34" charset="-122"/>
                <a:cs typeface="Calibri" pitchFamily="34" charset="-120"/>
              </a:rPr>
              <a:t>+ testes práticos com bases incompletas (só recrutamento, só folha, contratação + desligamento) — todas processadas com sucesso após ajuste da arquitetura</a:t>
            </a:r>
            <a:endParaRPr lang="en-US" sz="1350" dirty="0"/>
          </a:p>
        </p:txBody>
      </p:sp>
      <p:sp>
        <p:nvSpPr>
          <p:cNvPr id="20" name="Text 18"/>
          <p:cNvSpPr txBox="1"/>
          <p:nvPr/>
        </p:nvSpPr>
        <p:spPr>
          <a:xfrm>
            <a:off x="11475720" y="6446520"/>
            <a:ext cx="457200" cy="320040"/>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365760"/>
          </a:xfrm>
          <a:prstGeom prst="rect">
            <a:avLst/>
          </a:prstGeom>
          <a:noFill/>
          <a:ln/>
        </p:spPr>
        <p:txBody>
          <a:bodyPr wrap="square" lIns="0" tIns="0" rIns="0" bIns="0" rtlCol="0" anchor="ctr"/>
          <a:lstStyle/>
          <a:p>
            <a:pPr indent="0" marL="0">
              <a:buNone/>
            </a:pPr>
            <a:r>
              <a:rPr lang="en-US" sz="1300" b="1" spc="200" kern="0" dirty="0">
                <a:solidFill>
                  <a:srgbClr val="2F6F5E"/>
                </a:solidFill>
                <a:latin typeface="Calibri" pitchFamily="34" charset="0"/>
                <a:ea typeface="Calibri" pitchFamily="34" charset="-122"/>
                <a:cs typeface="Calibri" pitchFamily="34" charset="-120"/>
              </a:rPr>
              <a:t>CONCLUSÃO</a:t>
            </a:r>
            <a:endParaRPr lang="en-US" sz="1300" dirty="0"/>
          </a:p>
        </p:txBody>
      </p:sp>
      <p:sp>
        <p:nvSpPr>
          <p:cNvPr id="3" name="Text 1"/>
          <p:cNvSpPr txBox="1"/>
          <p:nvPr/>
        </p:nvSpPr>
        <p:spPr>
          <a:xfrm>
            <a:off x="548640" y="749808"/>
            <a:ext cx="11064240" cy="914400"/>
          </a:xfrm>
          <a:prstGeom prst="rect">
            <a:avLst/>
          </a:prstGeom>
          <a:noFill/>
          <a:ln/>
        </p:spPr>
        <p:txBody>
          <a:bodyPr wrap="square" lIns="0" tIns="0" rIns="0" bIns="0" rtlCol="0" anchor="ctr"/>
          <a:lstStyle/>
          <a:p>
            <a:pPr indent="0" marL="0">
              <a:buNone/>
            </a:pPr>
            <a:r>
              <a:rPr lang="en-US" sz="3400" b="1" dirty="0">
                <a:solidFill>
                  <a:srgbClr val="16213B"/>
                </a:solidFill>
                <a:latin typeface="Cambria" pitchFamily="34" charset="0"/>
                <a:ea typeface="Cambria" pitchFamily="34" charset="-122"/>
                <a:cs typeface="Cambria" pitchFamily="34" charset="-120"/>
              </a:rPr>
              <a:t>O que este trabalho demonstrou</a:t>
            </a:r>
            <a:endParaRPr lang="en-US" sz="3400" dirty="0"/>
          </a:p>
        </p:txBody>
      </p:sp>
      <p:sp>
        <p:nvSpPr>
          <p:cNvPr id="4" name="Text 2"/>
          <p:cNvSpPr txBox="1"/>
          <p:nvPr/>
        </p:nvSpPr>
        <p:spPr>
          <a:xfrm>
            <a:off x="548640" y="2286000"/>
            <a:ext cx="10789920" cy="3291840"/>
          </a:xfrm>
          <a:prstGeom prst="rect">
            <a:avLst/>
          </a:prstGeom>
          <a:noFill/>
          <a:ln/>
        </p:spPr>
        <p:txBody>
          <a:bodyPr wrap="square" lIns="0" tIns="0" rIns="0" bIns="0" rtlCol="0" anchor="ctr"/>
          <a:lstStyle/>
          <a:p>
            <a:pPr marL="342900" indent="-342900">
              <a:lnSpc>
                <a:spcPct val="125000"/>
              </a:lnSpc>
              <a:spcAft>
                <a:spcPts val="1600"/>
              </a:spcAft>
              <a:buSzPct val="100000"/>
              <a:buChar char="•"/>
            </a:pPr>
            <a:r>
              <a:rPr lang="en-US" sz="1900" dirty="0">
                <a:solidFill>
                  <a:srgbClr val="1A1A1A"/>
                </a:solidFill>
                <a:latin typeface="Calibri" pitchFamily="34" charset="0"/>
                <a:ea typeface="Calibri" pitchFamily="34" charset="-122"/>
                <a:cs typeface="Calibri" pitchFamily="34" charset="-120"/>
              </a:rPr>
              <a:t>É viável usar IA para interpretar semanticamente uma base desconhecida, sem perder confiabilidade numérica</a:t>
            </a:r>
            <a:endParaRPr lang="en-US" sz="1900" dirty="0"/>
          </a:p>
          <a:p>
            <a:pPr marL="342900" indent="-342900">
              <a:lnSpc>
                <a:spcPct val="125000"/>
              </a:lnSpc>
              <a:spcAft>
                <a:spcPts val="1600"/>
              </a:spcAft>
              <a:buSzPct val="100000"/>
              <a:buChar char="•"/>
            </a:pPr>
            <a:r>
              <a:rPr lang="en-US" sz="1900" dirty="0">
                <a:solidFill>
                  <a:srgbClr val="1A1A1A"/>
                </a:solidFill>
                <a:latin typeface="Calibri" pitchFamily="34" charset="0"/>
                <a:ea typeface="Calibri" pitchFamily="34" charset="-122"/>
                <a:cs typeface="Calibri" pitchFamily="34" charset="-120"/>
              </a:rPr>
              <a:t>A separação decisão/cálculo é uma estratégia de mitigação de alucinação aplicável a outros sistemas</a:t>
            </a:r>
            <a:endParaRPr lang="en-US" sz="1900" dirty="0"/>
          </a:p>
          <a:p>
            <a:pPr marL="342900" indent="-342900">
              <a:lnSpc>
                <a:spcPct val="125000"/>
              </a:lnSpc>
              <a:buSzPct val="100000"/>
              <a:buChar char="•"/>
            </a:pPr>
            <a:r>
              <a:rPr lang="en-US" sz="1900" dirty="0">
                <a:solidFill>
                  <a:srgbClr val="1A1A1A"/>
                </a:solidFill>
                <a:latin typeface="Calibri" pitchFamily="34" charset="0"/>
                <a:ea typeface="Calibri" pitchFamily="34" charset="-122"/>
                <a:cs typeface="Calibri" pitchFamily="34" charset="-120"/>
              </a:rPr>
              <a:t>A mesma arquitetura se adaptou a bases incompletas, sem exigir uma estrutura fixa predeterminada</a:t>
            </a:r>
            <a:endParaRPr lang="en-US" sz="1900" dirty="0"/>
          </a:p>
        </p:txBody>
      </p:sp>
      <p:sp>
        <p:nvSpPr>
          <p:cNvPr id="5" name="Text 3"/>
          <p:cNvSpPr txBox="1"/>
          <p:nvPr/>
        </p:nvSpPr>
        <p:spPr>
          <a:xfrm>
            <a:off x="11475720" y="6446520"/>
            <a:ext cx="457200" cy="320040"/>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13B"/>
        </a:solidFill>
      </p:bgPr>
    </p:bg>
    <p:spTree>
      <p:nvGrpSpPr>
        <p:cNvPr id="1" name=""/>
        <p:cNvGrpSpPr/>
        <p:nvPr/>
      </p:nvGrpSpPr>
      <p:grpSpPr>
        <a:xfrm>
          <a:off x="0" y="0"/>
          <a:ext cx="0" cy="0"/>
          <a:chOff x="0" y="0"/>
          <a:chExt cx="0" cy="0"/>
        </a:xfrm>
      </p:grpSpPr>
      <p:sp>
        <p:nvSpPr>
          <p:cNvPr id="2" name="Text 0"/>
          <p:cNvSpPr txBox="1"/>
          <p:nvPr/>
        </p:nvSpPr>
        <p:spPr>
          <a:xfrm>
            <a:off x="822960" y="2377440"/>
            <a:ext cx="105156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Obrigado</a:t>
            </a:r>
            <a:endParaRPr lang="en-US" sz="4600" dirty="0"/>
          </a:p>
        </p:txBody>
      </p:sp>
      <p:sp>
        <p:nvSpPr>
          <p:cNvPr id="3" name="Text 1"/>
          <p:cNvSpPr txBox="1"/>
          <p:nvPr/>
        </p:nvSpPr>
        <p:spPr>
          <a:xfrm>
            <a:off x="822960" y="3291840"/>
            <a:ext cx="10515600" cy="640080"/>
          </a:xfrm>
          <a:prstGeom prst="rect">
            <a:avLst/>
          </a:prstGeom>
          <a:noFill/>
          <a:ln/>
        </p:spPr>
        <p:txBody>
          <a:bodyPr wrap="square" lIns="0" tIns="0" rIns="0" bIns="0" rtlCol="0" anchor="ctr"/>
          <a:lstStyle/>
          <a:p>
            <a:pPr indent="0" marL="0">
              <a:buNone/>
            </a:pPr>
            <a:r>
              <a:rPr lang="en-US" sz="2000" i="1" dirty="0">
                <a:solidFill>
                  <a:srgbClr val="C7D3E8"/>
                </a:solidFill>
                <a:latin typeface="Calibri" pitchFamily="34" charset="0"/>
                <a:ea typeface="Calibri" pitchFamily="34" charset="-122"/>
                <a:cs typeface="Calibri" pitchFamily="34" charset="-120"/>
              </a:rPr>
              <a:t>Perguntas?</a:t>
            </a:r>
            <a:endParaRPr lang="en-US" sz="2000" dirty="0"/>
          </a:p>
        </p:txBody>
      </p:sp>
      <p:sp>
        <p:nvSpPr>
          <p:cNvPr id="4" name="Text 2"/>
          <p:cNvSpPr txBox="1"/>
          <p:nvPr/>
        </p:nvSpPr>
        <p:spPr>
          <a:xfrm>
            <a:off x="822960" y="6126480"/>
            <a:ext cx="10058400" cy="365760"/>
          </a:xfrm>
          <a:prstGeom prst="rect">
            <a:avLst/>
          </a:prstGeom>
          <a:noFill/>
          <a:ln/>
        </p:spPr>
        <p:txBody>
          <a:bodyPr wrap="square" lIns="0" tIns="0" rIns="0" bIns="0" rtlCol="0" anchor="ctr"/>
          <a:lstStyle/>
          <a:p>
            <a:pPr indent="0" marL="0">
              <a:buNone/>
            </a:pPr>
            <a:r>
              <a:rPr lang="en-US" sz="1200" dirty="0">
                <a:solidFill>
                  <a:srgbClr val="8FA6C9"/>
                </a:solidFill>
                <a:latin typeface="Calibri" pitchFamily="34" charset="0"/>
                <a:ea typeface="Calibri" pitchFamily="34" charset="-122"/>
                <a:cs typeface="Calibri" pitchFamily="34" charset="-120"/>
              </a:rPr>
              <a:t>Painel de Pessoas — Breno Ryan de Andrade Fernandes · João Vitor Ferreira Azevedo Pereira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2026-09-11T23:08:04Z</dcterms:created>
  <dcterms:modified xsi:type="dcterms:W3CDTF">2026-09-11T23:08:04Z</dcterms:modified>
</cp:coreProperties>
</file>